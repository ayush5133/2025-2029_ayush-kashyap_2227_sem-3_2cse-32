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4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594360"/>
            <a:ext cx="1234440" cy="1234440"/>
          </a:xfrm>
          <a:prstGeom prst="ellipse">
            <a:avLst/>
          </a:prstGeom>
          <a:solidFill>
            <a:srgbClr val="14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1417320"/>
            <a:ext cx="685800" cy="685800"/>
          </a:xfrm>
          <a:prstGeom prst="ellipse">
            <a:avLst/>
          </a:prstGeom>
          <a:solidFill>
            <a:srgbClr val="714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5486400"/>
            <a:ext cx="731520" cy="731520"/>
          </a:xfrm>
          <a:prstGeom prst="ellipse">
            <a:avLst/>
          </a:prstGeom>
          <a:solidFill>
            <a:srgbClr val="2B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89611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500" b="1">
                <a:solidFill>
                  <a:srgbClr val="F8FAFD"/>
                </a:solidFill>
              </a:defRPr>
            </a:pPr>
            <a:r>
              <a:t>MACHINE LEARNING</a:t>
            </a:r>
          </a:p>
          <a:p>
            <a:pPr>
              <a:defRPr sz="2900" b="1">
                <a:solidFill>
                  <a:srgbClr val="14A6A3"/>
                </a:solidFill>
              </a:defRPr>
            </a:pPr>
            <a:r>
              <a:t>INTERNSHIP REPORT</a:t>
            </a:r>
          </a:p>
          <a:p>
            <a:pPr>
              <a:defRPr sz="1500">
                <a:solidFill>
                  <a:srgbClr val="9BA8BC"/>
                </a:solidFill>
              </a:defRPr>
            </a:pPr>
            <a:r>
              <a:t>Practical Learning • AI/ML Applications • Project Exploration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977639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D"/>
                </a:solidFill>
              </a:defRPr>
            </a:pPr>
            <a:r>
              <a:t>Ayush Kashyap</a:t>
            </a:r>
          </a:p>
          <a:p>
            <a:pPr>
              <a:defRPr sz="1500">
                <a:solidFill>
                  <a:srgbClr val="9BA8BC"/>
                </a:solidFill>
              </a:defRPr>
            </a:pPr>
            <a:r>
              <a:t>InAmigos Foundation</a:t>
            </a:r>
          </a:p>
          <a:p>
            <a:pPr>
              <a:defRPr sz="1250">
                <a:solidFill>
                  <a:srgbClr val="9BA8BC"/>
                </a:solidFill>
              </a:defRPr>
            </a:pPr>
            <a:r>
              <a:t>28 August 2026 – 10 September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19088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BA8BC"/>
                </a:solidFill>
              </a:defRPr>
            </a:pPr>
            <a:r>
              <a:t>01  •  InAmigos Foundation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4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8FAFD"/>
                </a:solidFill>
              </a:defRPr>
            </a:pPr>
            <a:r>
              <a:t>Internship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BA8BC"/>
                </a:solidFill>
              </a:defRPr>
            </a:pPr>
            <a:r>
              <a:t>A practical introduction to Machine Learning through task-based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474720" cy="1600200"/>
          </a:xfrm>
          <a:prstGeom prst="roundRect">
            <a:avLst/>
          </a:prstGeom>
          <a:solidFill>
            <a:srgbClr val="161F34"/>
          </a:solidFill>
          <a:ln>
            <a:solidFill>
              <a:srgbClr val="30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700" b="1">
                <a:solidFill>
                  <a:srgbClr val="14A6A3"/>
                </a:solidFill>
              </a:defRPr>
            </a:pPr>
            <a:r>
              <a:t>01  Foundations</a:t>
            </a:r>
          </a:p>
          <a:p>
            <a:pPr>
              <a:spcBef>
                <a:spcPts val="800"/>
              </a:spcBef>
              <a:defRPr sz="1250">
                <a:solidFill>
                  <a:srgbClr val="F8FAFD"/>
                </a:solidFill>
              </a:defRPr>
            </a:pPr>
            <a:r>
              <a:t>Understand how ML systems learn from examples and produce predictions.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64008" cy="1600200"/>
          </a:xfrm>
          <a:prstGeom prst="rect">
            <a:avLst/>
          </a:prstGeom>
          <a:solidFill>
            <a:srgbClr val="14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70832" y="1508760"/>
            <a:ext cx="3474720" cy="1600200"/>
          </a:xfrm>
          <a:prstGeom prst="roundRect">
            <a:avLst/>
          </a:prstGeom>
          <a:solidFill>
            <a:srgbClr val="161F34"/>
          </a:solidFill>
          <a:ln>
            <a:solidFill>
              <a:srgbClr val="30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700" b="1">
                <a:solidFill>
                  <a:srgbClr val="2B5FBE"/>
                </a:solidFill>
              </a:defRPr>
            </a:pPr>
            <a:r>
              <a:t>02  Applications</a:t>
            </a:r>
          </a:p>
          <a:p>
            <a:pPr>
              <a:spcBef>
                <a:spcPts val="800"/>
              </a:spcBef>
              <a:defRPr sz="1250">
                <a:solidFill>
                  <a:srgbClr val="F8FAFD"/>
                </a:solidFill>
              </a:defRPr>
            </a:pPr>
            <a:r>
              <a:t>Connect ML concepts with familiar real-world applications.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508760"/>
            <a:ext cx="64008" cy="1600200"/>
          </a:xfrm>
          <a:prstGeom prst="rect">
            <a:avLst/>
          </a:prstGeom>
          <a:solidFill>
            <a:srgbClr val="2B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55864" y="1508760"/>
            <a:ext cx="3474720" cy="1600200"/>
          </a:xfrm>
          <a:prstGeom prst="roundRect">
            <a:avLst/>
          </a:prstGeom>
          <a:solidFill>
            <a:srgbClr val="161F34"/>
          </a:solidFill>
          <a:ln>
            <a:solidFill>
              <a:srgbClr val="30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700" b="1">
                <a:solidFill>
                  <a:srgbClr val="714CB5"/>
                </a:solidFill>
              </a:defRPr>
            </a:pPr>
            <a:r>
              <a:t>03  Hands-on</a:t>
            </a:r>
          </a:p>
          <a:p>
            <a:pPr>
              <a:spcBef>
                <a:spcPts val="800"/>
              </a:spcBef>
              <a:defRPr sz="1250">
                <a:solidFill>
                  <a:srgbClr val="F8FAFD"/>
                </a:solidFill>
              </a:defRPr>
            </a:pPr>
            <a:r>
              <a:t>Explore a beginner-friendly ML model and its training workflow.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55864" y="1508760"/>
            <a:ext cx="64008" cy="1600200"/>
          </a:xfrm>
          <a:prstGeom prst="rect">
            <a:avLst/>
          </a:prstGeom>
          <a:solidFill>
            <a:srgbClr val="714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3429000"/>
            <a:ext cx="3474720" cy="1600200"/>
          </a:xfrm>
          <a:prstGeom prst="roundRect">
            <a:avLst/>
          </a:prstGeom>
          <a:solidFill>
            <a:srgbClr val="161F34"/>
          </a:solidFill>
          <a:ln>
            <a:solidFill>
              <a:srgbClr val="30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700" b="1">
                <a:solidFill>
                  <a:srgbClr val="714CB5"/>
                </a:solidFill>
              </a:defRPr>
            </a:pPr>
            <a:r>
              <a:t>04  Problem Solving</a:t>
            </a:r>
          </a:p>
          <a:p>
            <a:pPr>
              <a:spcBef>
                <a:spcPts val="800"/>
              </a:spcBef>
              <a:defRPr sz="1250">
                <a:solidFill>
                  <a:srgbClr val="F8FAFD"/>
                </a:solidFill>
              </a:defRPr>
            </a:pPr>
            <a:r>
              <a:t>Identify practical problems where AI/ML can improve outcomes.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429000"/>
            <a:ext cx="64008" cy="1600200"/>
          </a:xfrm>
          <a:prstGeom prst="rect">
            <a:avLst/>
          </a:prstGeom>
          <a:solidFill>
            <a:srgbClr val="714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0832" y="3429000"/>
            <a:ext cx="3474720" cy="1600200"/>
          </a:xfrm>
          <a:prstGeom prst="roundRect">
            <a:avLst/>
          </a:prstGeom>
          <a:solidFill>
            <a:srgbClr val="161F34"/>
          </a:solidFill>
          <a:ln>
            <a:solidFill>
              <a:srgbClr val="30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700" b="1">
                <a:solidFill>
                  <a:srgbClr val="14A6A3"/>
                </a:solidFill>
              </a:defRPr>
            </a:pPr>
            <a:r>
              <a:t>05  Communication</a:t>
            </a:r>
          </a:p>
          <a:p>
            <a:pPr>
              <a:spcBef>
                <a:spcPts val="800"/>
              </a:spcBef>
              <a:defRPr sz="1250">
                <a:solidFill>
                  <a:srgbClr val="F8FAFD"/>
                </a:solidFill>
              </a:defRPr>
            </a:pPr>
            <a:r>
              <a:t>Build outreach and networking skills through the referral activity.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0832" y="3429000"/>
            <a:ext cx="64008" cy="1600200"/>
          </a:xfrm>
          <a:prstGeom prst="rect">
            <a:avLst/>
          </a:prstGeom>
          <a:solidFill>
            <a:srgbClr val="14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55864" y="3429000"/>
            <a:ext cx="3474720" cy="1600200"/>
          </a:xfrm>
          <a:prstGeom prst="roundRect">
            <a:avLst/>
          </a:prstGeom>
          <a:solidFill>
            <a:srgbClr val="161F34"/>
          </a:solidFill>
          <a:ln>
            <a:solidFill>
              <a:srgbClr val="30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700" b="1">
                <a:solidFill>
                  <a:srgbClr val="2B5FBE"/>
                </a:solidFill>
              </a:defRPr>
            </a:pPr>
            <a:r>
              <a:t>06  Completion</a:t>
            </a:r>
          </a:p>
          <a:p>
            <a:pPr>
              <a:spcBef>
                <a:spcPts val="800"/>
              </a:spcBef>
              <a:defRPr sz="1250">
                <a:solidFill>
                  <a:srgbClr val="F8FAFD"/>
                </a:solidFill>
              </a:defRPr>
            </a:pPr>
            <a:r>
              <a:t>Successfully completed the Machine Learning Internship program.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5864" y="3429000"/>
            <a:ext cx="64008" cy="1600200"/>
          </a:xfrm>
          <a:prstGeom prst="rect">
            <a:avLst/>
          </a:prstGeom>
          <a:solidFill>
            <a:srgbClr val="2B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6419088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BA8BC"/>
                </a:solidFill>
              </a:defRPr>
            </a:pPr>
            <a:r>
              <a:t>02  •  InAmigos Foundation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4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8FAFD"/>
                </a:solidFill>
              </a:defRPr>
            </a:pPr>
            <a:r>
              <a:t>Task 2 — How Machines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BA8BC"/>
                </a:solidFill>
              </a:defRPr>
            </a:pPr>
            <a:r>
              <a:t>Exploring how ML systems learn from examples and make decisions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6675120" cy="4526280"/>
          </a:xfrm>
          <a:prstGeom prst="roundRect">
            <a:avLst/>
          </a:prstGeom>
          <a:solidFill>
            <a:srgbClr val="161F34"/>
          </a:solidFill>
          <a:ln>
            <a:solidFill>
              <a:srgbClr val="30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spcAft>
                <a:spcPts val="1000"/>
              </a:spcAft>
              <a:defRPr sz="1600">
                <a:solidFill>
                  <a:srgbClr val="F8FAFD"/>
                </a:solidFill>
              </a:defRPr>
            </a:pPr>
            <a:r>
              <a:t>• Movie recommendation systems learn from viewing history, ratings and similar user preferences.</a:t>
            </a:r>
          </a:p>
          <a:p>
            <a:pPr>
              <a:spcAft>
                <a:spcPts val="1000"/>
              </a:spcAft>
              <a:defRPr sz="1600">
                <a:solidFill>
                  <a:srgbClr val="F8FAFD"/>
                </a:solidFill>
              </a:defRPr>
            </a:pPr>
            <a:r>
              <a:t>• Spam detection learns patterns from labelled spam and non-spam messages.</a:t>
            </a:r>
          </a:p>
          <a:p>
            <a:pPr>
              <a:spcAft>
                <a:spcPts val="1000"/>
              </a:spcAft>
              <a:defRPr sz="1600">
                <a:solidFill>
                  <a:srgbClr val="F8FAFD"/>
                </a:solidFill>
              </a:defRPr>
            </a:pPr>
            <a:r>
              <a:t>• Face recognition learns visual features from example images.</a:t>
            </a:r>
          </a:p>
          <a:p>
            <a:pPr>
              <a:spcAft>
                <a:spcPts val="1000"/>
              </a:spcAft>
              <a:defRPr sz="1600">
                <a:solidFill>
                  <a:srgbClr val="F8FAFD"/>
                </a:solidFill>
              </a:defRPr>
            </a:pPr>
            <a:r>
              <a:t>• The general workflow is: examples → patterns → prediction or decision.</a:t>
            </a:r>
          </a:p>
          <a:p>
            <a:pPr>
              <a:spcAft>
                <a:spcPts val="1000"/>
              </a:spcAft>
              <a:defRPr sz="1600">
                <a:solidFill>
                  <a:srgbClr val="F8FAFD"/>
                </a:solidFill>
              </a:defRPr>
            </a:pPr>
            <a:r>
              <a:t>• This task helped build a basic conceptual understanding of Machine Learning.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508760"/>
            <a:ext cx="3794760" cy="1234440"/>
          </a:xfrm>
          <a:prstGeom prst="roundRect">
            <a:avLst/>
          </a:prstGeom>
          <a:solidFill>
            <a:srgbClr val="161F34"/>
          </a:solidFill>
          <a:ln>
            <a:solidFill>
              <a:srgbClr val="30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700" b="1">
                <a:solidFill>
                  <a:srgbClr val="2B5FBE"/>
                </a:solidFill>
              </a:defRPr>
            </a:pPr>
            <a:r>
              <a:t>LEARN</a:t>
            </a:r>
          </a:p>
          <a:p>
            <a:pPr>
              <a:spcBef>
                <a:spcPts val="800"/>
              </a:spcBef>
              <a:defRPr sz="1250">
                <a:solidFill>
                  <a:srgbClr val="F8FAFD"/>
                </a:solidFill>
              </a:defRPr>
            </a:pPr>
            <a:r>
              <a:t>Feed the system examples.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508760"/>
            <a:ext cx="64008" cy="1234440"/>
          </a:xfrm>
          <a:prstGeom prst="rect">
            <a:avLst/>
          </a:prstGeom>
          <a:solidFill>
            <a:srgbClr val="2B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35240" y="2880360"/>
            <a:ext cx="3794760" cy="1234440"/>
          </a:xfrm>
          <a:prstGeom prst="roundRect">
            <a:avLst/>
          </a:prstGeom>
          <a:solidFill>
            <a:srgbClr val="161F34"/>
          </a:solidFill>
          <a:ln>
            <a:solidFill>
              <a:srgbClr val="30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700" b="1">
                <a:solidFill>
                  <a:srgbClr val="14A6A3"/>
                </a:solidFill>
              </a:defRPr>
            </a:pPr>
            <a:r>
              <a:t>IDENTIFY</a:t>
            </a:r>
          </a:p>
          <a:p>
            <a:pPr>
              <a:spcBef>
                <a:spcPts val="800"/>
              </a:spcBef>
              <a:defRPr sz="1250">
                <a:solidFill>
                  <a:srgbClr val="F8FAFD"/>
                </a:solidFill>
              </a:defRPr>
            </a:pPr>
            <a:r>
              <a:t>Find useful patterns in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2880360"/>
            <a:ext cx="64008" cy="1234440"/>
          </a:xfrm>
          <a:prstGeom prst="rect">
            <a:avLst/>
          </a:prstGeom>
          <a:solidFill>
            <a:srgbClr val="14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35240" y="4251960"/>
            <a:ext cx="3794760" cy="1234440"/>
          </a:xfrm>
          <a:prstGeom prst="roundRect">
            <a:avLst/>
          </a:prstGeom>
          <a:solidFill>
            <a:srgbClr val="161F34"/>
          </a:solidFill>
          <a:ln>
            <a:solidFill>
              <a:srgbClr val="30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700" b="1">
                <a:solidFill>
                  <a:srgbClr val="714CB5"/>
                </a:solidFill>
              </a:defRPr>
            </a:pPr>
            <a:r>
              <a:t>PREDICT</a:t>
            </a:r>
          </a:p>
          <a:p>
            <a:pPr>
              <a:spcBef>
                <a:spcPts val="800"/>
              </a:spcBef>
              <a:defRPr sz="1250">
                <a:solidFill>
                  <a:srgbClr val="F8FAFD"/>
                </a:solidFill>
              </a:defRPr>
            </a:pPr>
            <a:r>
              <a:t>Use learned patterns on new input.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4251960"/>
            <a:ext cx="64008" cy="1234440"/>
          </a:xfrm>
          <a:prstGeom prst="rect">
            <a:avLst/>
          </a:prstGeom>
          <a:solidFill>
            <a:srgbClr val="714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0" y="6419088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BA8BC"/>
                </a:solidFill>
              </a:defRPr>
            </a:pPr>
            <a:r>
              <a:t>03  •  InAmigos Foundation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4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8FAFD"/>
                </a:solidFill>
              </a:defRPr>
            </a:pPr>
            <a:r>
              <a:t>Task 3 — Machine Learning Model Exploration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BA8BC"/>
                </a:solidFill>
              </a:defRPr>
            </a:pPr>
            <a:r>
              <a:t>Hands-on exploration of a beginner-friendly model training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6675120" cy="4526280"/>
          </a:xfrm>
          <a:prstGeom prst="roundRect">
            <a:avLst/>
          </a:prstGeom>
          <a:solidFill>
            <a:srgbClr val="161F34"/>
          </a:solidFill>
          <a:ln>
            <a:solidFill>
              <a:srgbClr val="30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spcAft>
                <a:spcPts val="1000"/>
              </a:spcAft>
              <a:defRPr sz="1600">
                <a:solidFill>
                  <a:srgbClr val="F8FAFD"/>
                </a:solidFill>
              </a:defRPr>
            </a:pPr>
            <a:r>
              <a:t>• Explored a beginner-friendly ML platform such as Teachable Machine.</a:t>
            </a:r>
          </a:p>
          <a:p>
            <a:pPr>
              <a:spcAft>
                <a:spcPts val="1000"/>
              </a:spcAft>
              <a:defRPr sz="1600">
                <a:solidFill>
                  <a:srgbClr val="F8FAFD"/>
                </a:solidFill>
              </a:defRPr>
            </a:pPr>
            <a:r>
              <a:t>• Created a simple recognition model using example data.</a:t>
            </a:r>
          </a:p>
          <a:p>
            <a:pPr>
              <a:spcAft>
                <a:spcPts val="1000"/>
              </a:spcAft>
              <a:defRPr sz="1600">
                <a:solidFill>
                  <a:srgbClr val="F8FAFD"/>
                </a:solidFill>
              </a:defRPr>
            </a:pPr>
            <a:r>
              <a:t>• Trained the model using the available examples.</a:t>
            </a:r>
          </a:p>
          <a:p>
            <a:pPr>
              <a:spcAft>
                <a:spcPts val="1000"/>
              </a:spcAft>
              <a:defRPr sz="1600">
                <a:solidFill>
                  <a:srgbClr val="F8FAFD"/>
                </a:solidFill>
              </a:defRPr>
            </a:pPr>
            <a:r>
              <a:t>• Tested the trained model with new inputs.</a:t>
            </a:r>
          </a:p>
          <a:p>
            <a:pPr>
              <a:spcAft>
                <a:spcPts val="1000"/>
              </a:spcAft>
              <a:defRPr sz="1600">
                <a:solidFill>
                  <a:srgbClr val="F8FAFD"/>
                </a:solidFill>
              </a:defRPr>
            </a:pPr>
            <a:r>
              <a:t>• Observed how the quality and variety of examples affect model performance.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508760"/>
            <a:ext cx="3794760" cy="1234440"/>
          </a:xfrm>
          <a:prstGeom prst="roundRect">
            <a:avLst/>
          </a:prstGeom>
          <a:solidFill>
            <a:srgbClr val="161F34"/>
          </a:solidFill>
          <a:ln>
            <a:solidFill>
              <a:srgbClr val="30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700" b="1">
                <a:solidFill>
                  <a:srgbClr val="14A6A3"/>
                </a:solidFill>
              </a:defRPr>
            </a:pPr>
            <a:r>
              <a:t>DATA</a:t>
            </a:r>
          </a:p>
          <a:p>
            <a:pPr>
              <a:spcBef>
                <a:spcPts val="800"/>
              </a:spcBef>
              <a:defRPr sz="1250">
                <a:solidFill>
                  <a:srgbClr val="F8FAFD"/>
                </a:solidFill>
              </a:defRPr>
            </a:pPr>
            <a:r>
              <a:t>Collect representative examples.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508760"/>
            <a:ext cx="64008" cy="1234440"/>
          </a:xfrm>
          <a:prstGeom prst="rect">
            <a:avLst/>
          </a:prstGeom>
          <a:solidFill>
            <a:srgbClr val="14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35240" y="2880360"/>
            <a:ext cx="3794760" cy="1234440"/>
          </a:xfrm>
          <a:prstGeom prst="roundRect">
            <a:avLst/>
          </a:prstGeom>
          <a:solidFill>
            <a:srgbClr val="161F34"/>
          </a:solidFill>
          <a:ln>
            <a:solidFill>
              <a:srgbClr val="30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700" b="1">
                <a:solidFill>
                  <a:srgbClr val="2B5FBE"/>
                </a:solidFill>
              </a:defRPr>
            </a:pPr>
            <a:r>
              <a:t>TRAIN</a:t>
            </a:r>
          </a:p>
          <a:p>
            <a:pPr>
              <a:spcBef>
                <a:spcPts val="800"/>
              </a:spcBef>
              <a:defRPr sz="1250">
                <a:solidFill>
                  <a:srgbClr val="F8FAFD"/>
                </a:solidFill>
              </a:defRPr>
            </a:pPr>
            <a:r>
              <a:t>Let the model learn patterns.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2880360"/>
            <a:ext cx="64008" cy="1234440"/>
          </a:xfrm>
          <a:prstGeom prst="rect">
            <a:avLst/>
          </a:prstGeom>
          <a:solidFill>
            <a:srgbClr val="2B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35240" y="4251960"/>
            <a:ext cx="3794760" cy="1234440"/>
          </a:xfrm>
          <a:prstGeom prst="roundRect">
            <a:avLst/>
          </a:prstGeom>
          <a:solidFill>
            <a:srgbClr val="161F34"/>
          </a:solidFill>
          <a:ln>
            <a:solidFill>
              <a:srgbClr val="30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700" b="1">
                <a:solidFill>
                  <a:srgbClr val="714CB5"/>
                </a:solidFill>
              </a:defRPr>
            </a:pPr>
            <a:r>
              <a:t>TEST</a:t>
            </a:r>
          </a:p>
          <a:p>
            <a:pPr>
              <a:spcBef>
                <a:spcPts val="800"/>
              </a:spcBef>
              <a:defRPr sz="1250">
                <a:solidFill>
                  <a:srgbClr val="F8FAFD"/>
                </a:solidFill>
              </a:defRPr>
            </a:pPr>
            <a:r>
              <a:t>Check predictions on new inputs.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4251960"/>
            <a:ext cx="64008" cy="1234440"/>
          </a:xfrm>
          <a:prstGeom prst="rect">
            <a:avLst/>
          </a:prstGeom>
          <a:solidFill>
            <a:srgbClr val="714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0" y="6419088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BA8BC"/>
                </a:solidFill>
              </a:defRPr>
            </a:pPr>
            <a:r>
              <a:t>04  •  InAmigos Foundation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4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8FAFD"/>
                </a:solidFill>
              </a:defRPr>
            </a:pPr>
            <a:r>
              <a:t>Task 4 — AI &amp; ML in the Real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BA8BC"/>
                </a:solidFill>
              </a:defRPr>
            </a:pPr>
            <a:r>
              <a:t>Identifying real-world problems and suitable AI/ML approaches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74720" cy="1508760"/>
          </a:xfrm>
          <a:prstGeom prst="roundRect">
            <a:avLst/>
          </a:prstGeom>
          <a:solidFill>
            <a:srgbClr val="161F34"/>
          </a:solidFill>
          <a:ln>
            <a:solidFill>
              <a:srgbClr val="30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700" b="1">
                <a:solidFill>
                  <a:srgbClr val="14A6A3"/>
                </a:solidFill>
              </a:defRPr>
            </a:pPr>
            <a:r>
              <a:t>AGRICULTURE</a:t>
            </a:r>
          </a:p>
          <a:p>
            <a:pPr>
              <a:spcBef>
                <a:spcPts val="800"/>
              </a:spcBef>
              <a:defRPr sz="1250">
                <a:solidFill>
                  <a:srgbClr val="F8FAFD"/>
                </a:solidFill>
              </a:defRPr>
            </a:pPr>
            <a:r>
              <a:t>Predict crop disease and optimize irrigation using sensor or image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1508760"/>
          </a:xfrm>
          <a:prstGeom prst="rect">
            <a:avLst/>
          </a:prstGeom>
          <a:solidFill>
            <a:srgbClr val="14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70832" y="1417320"/>
            <a:ext cx="3474720" cy="1508760"/>
          </a:xfrm>
          <a:prstGeom prst="roundRect">
            <a:avLst/>
          </a:prstGeom>
          <a:solidFill>
            <a:srgbClr val="161F34"/>
          </a:solidFill>
          <a:ln>
            <a:solidFill>
              <a:srgbClr val="30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700" b="1">
                <a:solidFill>
                  <a:srgbClr val="2B5FBE"/>
                </a:solidFill>
              </a:defRPr>
            </a:pPr>
            <a:r>
              <a:t>HEALTHCARE</a:t>
            </a:r>
          </a:p>
          <a:p>
            <a:pPr>
              <a:spcBef>
                <a:spcPts val="800"/>
              </a:spcBef>
              <a:defRPr sz="1250">
                <a:solidFill>
                  <a:srgbClr val="F8FAFD"/>
                </a:solidFill>
              </a:defRPr>
            </a:pPr>
            <a:r>
              <a:t>Support early detection and prioritize cases using medical 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417320"/>
            <a:ext cx="64008" cy="1508760"/>
          </a:xfrm>
          <a:prstGeom prst="rect">
            <a:avLst/>
          </a:prstGeom>
          <a:solidFill>
            <a:srgbClr val="2B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55864" y="1417320"/>
            <a:ext cx="3474720" cy="1508760"/>
          </a:xfrm>
          <a:prstGeom prst="roundRect">
            <a:avLst/>
          </a:prstGeom>
          <a:solidFill>
            <a:srgbClr val="161F34"/>
          </a:solidFill>
          <a:ln>
            <a:solidFill>
              <a:srgbClr val="30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700" b="1">
                <a:solidFill>
                  <a:srgbClr val="714CB5"/>
                </a:solidFill>
              </a:defRPr>
            </a:pPr>
            <a:r>
              <a:t>EDUCATION</a:t>
            </a:r>
          </a:p>
          <a:p>
            <a:pPr>
              <a:spcBef>
                <a:spcPts val="800"/>
              </a:spcBef>
              <a:defRPr sz="1250">
                <a:solidFill>
                  <a:srgbClr val="F8FAFD"/>
                </a:solidFill>
              </a:defRPr>
            </a:pPr>
            <a:r>
              <a:t>Personalize learning content using student performance data.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55864" y="1417320"/>
            <a:ext cx="64008" cy="1508760"/>
          </a:xfrm>
          <a:prstGeom prst="rect">
            <a:avLst/>
          </a:prstGeom>
          <a:solidFill>
            <a:srgbClr val="714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3246120"/>
            <a:ext cx="3474720" cy="1508760"/>
          </a:xfrm>
          <a:prstGeom prst="roundRect">
            <a:avLst/>
          </a:prstGeom>
          <a:solidFill>
            <a:srgbClr val="161F34"/>
          </a:solidFill>
          <a:ln>
            <a:solidFill>
              <a:srgbClr val="30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700" b="1">
                <a:solidFill>
                  <a:srgbClr val="714CB5"/>
                </a:solidFill>
              </a:defRPr>
            </a:pPr>
            <a:r>
              <a:t>TRANSPORTATION</a:t>
            </a:r>
          </a:p>
          <a:p>
            <a:pPr>
              <a:spcBef>
                <a:spcPts val="800"/>
              </a:spcBef>
              <a:defRPr sz="1250">
                <a:solidFill>
                  <a:srgbClr val="F8FAFD"/>
                </a:solidFill>
              </a:defRPr>
            </a:pPr>
            <a:r>
              <a:t>Predict traffic patterns and support better route planning.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246120"/>
            <a:ext cx="64008" cy="1508760"/>
          </a:xfrm>
          <a:prstGeom prst="rect">
            <a:avLst/>
          </a:prstGeom>
          <a:solidFill>
            <a:srgbClr val="714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0832" y="3246120"/>
            <a:ext cx="3474720" cy="1508760"/>
          </a:xfrm>
          <a:prstGeom prst="roundRect">
            <a:avLst/>
          </a:prstGeom>
          <a:solidFill>
            <a:srgbClr val="161F34"/>
          </a:solidFill>
          <a:ln>
            <a:solidFill>
              <a:srgbClr val="30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700" b="1">
                <a:solidFill>
                  <a:srgbClr val="14A6A3"/>
                </a:solidFill>
              </a:defRPr>
            </a:pPr>
            <a:r>
              <a:t>ENVIRONMENT</a:t>
            </a:r>
          </a:p>
          <a:p>
            <a:pPr>
              <a:spcBef>
                <a:spcPts val="800"/>
              </a:spcBef>
              <a:defRPr sz="1250">
                <a:solidFill>
                  <a:srgbClr val="F8FAFD"/>
                </a:solidFill>
              </a:defRPr>
            </a:pPr>
            <a:r>
              <a:t>Monitor pollution, waste and environmental changes using data.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0832" y="3246120"/>
            <a:ext cx="64008" cy="1508760"/>
          </a:xfrm>
          <a:prstGeom prst="rect">
            <a:avLst/>
          </a:prstGeom>
          <a:solidFill>
            <a:srgbClr val="14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55864" y="3246120"/>
            <a:ext cx="3474720" cy="1508760"/>
          </a:xfrm>
          <a:prstGeom prst="roundRect">
            <a:avLst/>
          </a:prstGeom>
          <a:solidFill>
            <a:srgbClr val="161F34"/>
          </a:solidFill>
          <a:ln>
            <a:solidFill>
              <a:srgbClr val="30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700" b="1">
                <a:solidFill>
                  <a:srgbClr val="2B5FBE"/>
                </a:solidFill>
              </a:defRPr>
            </a:pPr>
            <a:r>
              <a:t>EXPECTED BENEFIT</a:t>
            </a:r>
          </a:p>
          <a:p>
            <a:pPr>
              <a:spcBef>
                <a:spcPts val="800"/>
              </a:spcBef>
              <a:defRPr sz="1250">
                <a:solidFill>
                  <a:srgbClr val="F8FAFD"/>
                </a:solidFill>
              </a:defRPr>
            </a:pPr>
            <a:r>
              <a:t>Faster analysis, better predictions, early warnings and smarter decisions.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5864" y="3246120"/>
            <a:ext cx="64008" cy="1508760"/>
          </a:xfrm>
          <a:prstGeom prst="rect">
            <a:avLst/>
          </a:prstGeom>
          <a:solidFill>
            <a:srgbClr val="2B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6419088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BA8BC"/>
                </a:solidFill>
              </a:defRPr>
            </a:pPr>
            <a:r>
              <a:t>05  •  InAmigos Foundation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4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8FAFD"/>
                </a:solidFill>
              </a:defRPr>
            </a:pPr>
            <a:r>
              <a:t>AI/ML Solution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BA8BC"/>
                </a:solidFill>
              </a:defRPr>
            </a:pPr>
            <a:r>
              <a:t>A simple framework for turning a real-world problem into a data-driven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2057400" cy="2148840"/>
          </a:xfrm>
          <a:prstGeom prst="roundRect">
            <a:avLst/>
          </a:prstGeom>
          <a:solidFill>
            <a:srgbClr val="161F34"/>
          </a:solidFill>
          <a:ln>
            <a:solidFill>
              <a:srgbClr val="30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700" b="1">
                <a:solidFill>
                  <a:srgbClr val="14A6A3"/>
                </a:solidFill>
              </a:defRPr>
            </a:pPr>
            <a:r>
              <a:t>01  Problem</a:t>
            </a:r>
          </a:p>
          <a:p>
            <a:pPr>
              <a:spcBef>
                <a:spcPts val="800"/>
              </a:spcBef>
              <a:defRPr sz="1250">
                <a:solidFill>
                  <a:srgbClr val="F8FAFD"/>
                </a:solidFill>
              </a:defRPr>
            </a:pPr>
            <a:r>
              <a:t>Define the real-world challenge.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64008" cy="2148840"/>
          </a:xfrm>
          <a:prstGeom prst="rect">
            <a:avLst/>
          </a:prstGeom>
          <a:solidFill>
            <a:srgbClr val="14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evron 7"/>
          <p:cNvSpPr/>
          <p:nvPr/>
        </p:nvSpPr>
        <p:spPr>
          <a:xfrm>
            <a:off x="2596896" y="2606040"/>
            <a:ext cx="256032" cy="411480"/>
          </a:xfrm>
          <a:prstGeom prst="chevron">
            <a:avLst/>
          </a:prstGeom>
          <a:solidFill>
            <a:srgbClr val="9BA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4639" y="1920240"/>
            <a:ext cx="2057400" cy="2148840"/>
          </a:xfrm>
          <a:prstGeom prst="roundRect">
            <a:avLst/>
          </a:prstGeom>
          <a:solidFill>
            <a:srgbClr val="161F34"/>
          </a:solidFill>
          <a:ln>
            <a:solidFill>
              <a:srgbClr val="30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700" b="1">
                <a:solidFill>
                  <a:srgbClr val="2B5FBE"/>
                </a:solidFill>
              </a:defRPr>
            </a:pPr>
            <a:r>
              <a:t>02  Data</a:t>
            </a:r>
          </a:p>
          <a:p>
            <a:pPr>
              <a:spcBef>
                <a:spcPts val="800"/>
              </a:spcBef>
              <a:defRPr sz="1250">
                <a:solidFill>
                  <a:srgbClr val="F8FAFD"/>
                </a:solidFill>
              </a:defRPr>
            </a:pPr>
            <a:r>
              <a:t>Collect and prepare relevant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39" y="1920240"/>
            <a:ext cx="64008" cy="2148840"/>
          </a:xfrm>
          <a:prstGeom prst="rect">
            <a:avLst/>
          </a:prstGeom>
          <a:solidFill>
            <a:srgbClr val="2B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4928616" y="2606040"/>
            <a:ext cx="256032" cy="411480"/>
          </a:xfrm>
          <a:prstGeom prst="chevron">
            <a:avLst/>
          </a:prstGeom>
          <a:solidFill>
            <a:srgbClr val="9BA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6359" y="1920240"/>
            <a:ext cx="2057400" cy="2148840"/>
          </a:xfrm>
          <a:prstGeom prst="roundRect">
            <a:avLst/>
          </a:prstGeom>
          <a:solidFill>
            <a:srgbClr val="161F34"/>
          </a:solidFill>
          <a:ln>
            <a:solidFill>
              <a:srgbClr val="30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700" b="1">
                <a:solidFill>
                  <a:srgbClr val="714CB5"/>
                </a:solidFill>
              </a:defRPr>
            </a:pPr>
            <a:r>
              <a:t>03  Model</a:t>
            </a:r>
          </a:p>
          <a:p>
            <a:pPr>
              <a:spcBef>
                <a:spcPts val="800"/>
              </a:spcBef>
              <a:defRPr sz="1250">
                <a:solidFill>
                  <a:srgbClr val="F8FAFD"/>
                </a:solidFill>
              </a:defRPr>
            </a:pPr>
            <a:r>
              <a:t>Train an ML model to learn patterns.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6359" y="1920240"/>
            <a:ext cx="64008" cy="2148840"/>
          </a:xfrm>
          <a:prstGeom prst="rect">
            <a:avLst/>
          </a:prstGeom>
          <a:solidFill>
            <a:srgbClr val="714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260336" y="2606040"/>
            <a:ext cx="256032" cy="411480"/>
          </a:xfrm>
          <a:prstGeom prst="chevron">
            <a:avLst/>
          </a:prstGeom>
          <a:solidFill>
            <a:srgbClr val="9BA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79" y="1920240"/>
            <a:ext cx="2057400" cy="2148840"/>
          </a:xfrm>
          <a:prstGeom prst="roundRect">
            <a:avLst/>
          </a:prstGeom>
          <a:solidFill>
            <a:srgbClr val="161F34"/>
          </a:solidFill>
          <a:ln>
            <a:solidFill>
              <a:srgbClr val="30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700" b="1">
                <a:solidFill>
                  <a:srgbClr val="14A6A3"/>
                </a:solidFill>
              </a:defRPr>
            </a:pPr>
            <a:r>
              <a:t>04  Evaluate</a:t>
            </a:r>
          </a:p>
          <a:p>
            <a:pPr>
              <a:spcBef>
                <a:spcPts val="800"/>
              </a:spcBef>
              <a:defRPr sz="1250">
                <a:solidFill>
                  <a:srgbClr val="F8FAFD"/>
                </a:solidFill>
              </a:defRPr>
            </a:pPr>
            <a:r>
              <a:t>Test accuracy and reliability.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1920240"/>
            <a:ext cx="64008" cy="2148840"/>
          </a:xfrm>
          <a:prstGeom prst="rect">
            <a:avLst/>
          </a:prstGeom>
          <a:solidFill>
            <a:srgbClr val="14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592055" y="2606040"/>
            <a:ext cx="256032" cy="411480"/>
          </a:xfrm>
          <a:prstGeom prst="chevron">
            <a:avLst/>
          </a:prstGeom>
          <a:solidFill>
            <a:srgbClr val="9BA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29800" y="1920240"/>
            <a:ext cx="2057400" cy="2148840"/>
          </a:xfrm>
          <a:prstGeom prst="roundRect">
            <a:avLst/>
          </a:prstGeom>
          <a:solidFill>
            <a:srgbClr val="161F34"/>
          </a:solidFill>
          <a:ln>
            <a:solidFill>
              <a:srgbClr val="30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700" b="1">
                <a:solidFill>
                  <a:srgbClr val="2B5FBE"/>
                </a:solidFill>
              </a:defRPr>
            </a:pPr>
            <a:r>
              <a:t>05  Use</a:t>
            </a:r>
          </a:p>
          <a:p>
            <a:pPr>
              <a:spcBef>
                <a:spcPts val="800"/>
              </a:spcBef>
              <a:defRPr sz="1250">
                <a:solidFill>
                  <a:srgbClr val="F8FAFD"/>
                </a:solidFill>
              </a:defRPr>
            </a:pPr>
            <a:r>
              <a:t>Apply predictions with human oversight.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29800" y="1920240"/>
            <a:ext cx="64008" cy="2148840"/>
          </a:xfrm>
          <a:prstGeom prst="rect">
            <a:avLst/>
          </a:prstGeom>
          <a:solidFill>
            <a:srgbClr val="2B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7091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BA8BC"/>
                </a:solidFill>
              </a:defRPr>
            </a:pPr>
            <a:r>
              <a:t>Key principle: AI should support responsible decisions, with attention to data quality, privacy, bias and human review.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6419088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BA8BC"/>
                </a:solidFill>
              </a:defRPr>
            </a:pPr>
            <a:r>
              <a:t>06  •  InAmigos Foundation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4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8FAFD"/>
                </a:solidFill>
              </a:defRPr>
            </a:pPr>
            <a:r>
              <a:t>Key 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BA8BC"/>
                </a:solidFill>
              </a:defRPr>
            </a:pPr>
            <a:r>
              <a:t>Skills and understanding developed during the internship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349240" cy="4617720"/>
          </a:xfrm>
          <a:prstGeom prst="roundRect">
            <a:avLst/>
          </a:prstGeom>
          <a:solidFill>
            <a:srgbClr val="161F34"/>
          </a:solidFill>
          <a:ln>
            <a:solidFill>
              <a:srgbClr val="30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spcAft>
                <a:spcPts val="1000"/>
              </a:spcAft>
              <a:defRPr sz="1600">
                <a:solidFill>
                  <a:srgbClr val="F8FAFD"/>
                </a:solidFill>
              </a:defRPr>
            </a:pPr>
            <a:r>
              <a:t>• Understood the fundamentals of how ML models learn from examples.</a:t>
            </a:r>
          </a:p>
          <a:p>
            <a:pPr>
              <a:spcAft>
                <a:spcPts val="1000"/>
              </a:spcAft>
              <a:defRPr sz="1600">
                <a:solidFill>
                  <a:srgbClr val="F8FAFD"/>
                </a:solidFill>
              </a:defRPr>
            </a:pPr>
            <a:r>
              <a:t>• Connected ML concepts with everyday applications.</a:t>
            </a:r>
          </a:p>
          <a:p>
            <a:pPr>
              <a:spcAft>
                <a:spcPts val="1000"/>
              </a:spcAft>
              <a:defRPr sz="1600">
                <a:solidFill>
                  <a:srgbClr val="F8FAFD"/>
                </a:solidFill>
              </a:defRPr>
            </a:pPr>
            <a:r>
              <a:t>• Gained hands-on exposure to training and testing a simple model.</a:t>
            </a:r>
          </a:p>
          <a:p>
            <a:pPr>
              <a:spcAft>
                <a:spcPts val="1000"/>
              </a:spcAft>
              <a:defRPr sz="1600">
                <a:solidFill>
                  <a:srgbClr val="F8FAFD"/>
                </a:solidFill>
              </a:defRPr>
            </a:pPr>
            <a:r>
              <a:t>• Learned to identify AI/ML opportunities in real-world problems.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303520" cy="4617720"/>
          </a:xfrm>
          <a:prstGeom prst="roundRect">
            <a:avLst/>
          </a:prstGeom>
          <a:solidFill>
            <a:srgbClr val="161F34"/>
          </a:solidFill>
          <a:ln>
            <a:solidFill>
              <a:srgbClr val="30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spcAft>
                <a:spcPts val="1000"/>
              </a:spcAft>
              <a:defRPr sz="1600">
                <a:solidFill>
                  <a:srgbClr val="F8FAFD"/>
                </a:solidFill>
              </a:defRPr>
            </a:pPr>
            <a:r>
              <a:t>• Improved solution-oriented and practical thinking.</a:t>
            </a:r>
          </a:p>
          <a:p>
            <a:pPr>
              <a:spcAft>
                <a:spcPts val="1000"/>
              </a:spcAft>
              <a:defRPr sz="1600">
                <a:solidFill>
                  <a:srgbClr val="F8FAFD"/>
                </a:solidFill>
              </a:defRPr>
            </a:pPr>
            <a:r>
              <a:t>• Strengthened communication and networking through outreach.</a:t>
            </a:r>
          </a:p>
          <a:p>
            <a:pPr>
              <a:spcAft>
                <a:spcPts val="1000"/>
              </a:spcAft>
              <a:defRPr sz="1600">
                <a:solidFill>
                  <a:srgbClr val="F8FAFD"/>
                </a:solidFill>
              </a:defRPr>
            </a:pPr>
            <a:r>
              <a:t>• Recognized the importance of data quality and evaluation.</a:t>
            </a:r>
          </a:p>
          <a:p>
            <a:pPr>
              <a:spcAft>
                <a:spcPts val="1000"/>
              </a:spcAft>
              <a:defRPr sz="1600">
                <a:solidFill>
                  <a:srgbClr val="F8FAFD"/>
                </a:solidFill>
              </a:defRPr>
            </a:pPr>
            <a:r>
              <a:t>• Built a foundation for deeper study of AI and Machine Learning.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19088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BA8BC"/>
                </a:solidFill>
              </a:defRPr>
            </a:pPr>
            <a:r>
              <a:t>09  •  InAmigos Foundation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4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8FAFD"/>
                </a:solidFill>
              </a:defRPr>
            </a:pPr>
            <a:r>
              <a:t>Certificate of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BA8BC"/>
                </a:solidFill>
              </a:defRPr>
            </a:pPr>
            <a:r>
              <a:t>Official certificate of successful completion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98448"/>
            <a:ext cx="10817352" cy="489204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635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623" y="1417320"/>
            <a:ext cx="6575993" cy="46451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92640" y="6419088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BA8BC"/>
                </a:solidFill>
              </a:defRPr>
            </a:pPr>
            <a:r>
              <a:t>10  •  InAmigos Foundation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4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8FAFD"/>
                </a:solidFill>
              </a:defRPr>
            </a:pPr>
            <a:r>
              <a:t>THANK YOU</a:t>
            </a:r>
          </a:p>
          <a:p>
            <a:pPr algn="ctr">
              <a:defRPr sz="1900">
                <a:solidFill>
                  <a:srgbClr val="14A6A3"/>
                </a:solidFill>
              </a:defRPr>
            </a:pPr>
            <a:r>
              <a:t>Machine Learning Internship</a:t>
            </a:r>
          </a:p>
          <a:p>
            <a:pPr algn="ctr">
              <a:defRPr sz="1400">
                <a:solidFill>
                  <a:srgbClr val="9BA8BC"/>
                </a:solidFill>
              </a:defRPr>
            </a:pPr>
            <a:r>
              <a:t>Ayush Kashyap  •  InAmigos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19088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BA8BC"/>
                </a:solidFill>
              </a:defRPr>
            </a:pPr>
            <a:r>
              <a:t>11  •  InAmigos Foundation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