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875520" y="0"/>
            <a:ext cx="2377440" cy="6858000"/>
          </a:xfrm>
          <a:prstGeom prst="rect">
            <a:avLst/>
          </a:prstGeom>
          <a:solidFill>
            <a:srgbClr val="2F55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55080"/>
            <a:ext cx="12188952" cy="50292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43000"/>
            <a:ext cx="8686800" cy="1188720"/>
          </a:xfrm>
          <a:prstGeom prst="rect">
            <a:avLst/>
          </a:prstGeom>
          <a:noFill/>
        </p:spPr>
        <p:txBody>
          <a:bodyPr wrap="none">
            <a:spAutoFit/>
          </a:bodyPr>
          <a:lstStyle/>
          <a:p>
            <a:pPr>
              <a:defRPr sz="3800" b="1">
                <a:solidFill>
                  <a:srgbClr val="FFFFFF"/>
                </a:solidFill>
                <a:latin typeface="Aptos Display"/>
              </a:defRPr>
            </a:pPr>
            <a:r>
              <a:t>MACHINE LEARNING</a:t>
            </a:r>
          </a:p>
        </p:txBody>
      </p:sp>
      <p:sp>
        <p:nvSpPr>
          <p:cNvPr id="6" name="TextBox 5"/>
          <p:cNvSpPr txBox="1"/>
          <p:nvPr/>
        </p:nvSpPr>
        <p:spPr>
          <a:xfrm>
            <a:off x="749808" y="2240280"/>
            <a:ext cx="8138160" cy="1097280"/>
          </a:xfrm>
          <a:prstGeom prst="rect">
            <a:avLst/>
          </a:prstGeom>
          <a:noFill/>
        </p:spPr>
        <p:txBody>
          <a:bodyPr wrap="none">
            <a:spAutoFit/>
          </a:bodyPr>
          <a:lstStyle/>
          <a:p>
            <a:pPr>
              <a:defRPr sz="3000" b="1">
                <a:solidFill>
                  <a:srgbClr val="DCE6F5"/>
                </a:solidFill>
                <a:latin typeface="Aptos Display"/>
              </a:defRPr>
            </a:pPr>
            <a:r>
              <a:t>Internship Presentation</a:t>
            </a:r>
          </a:p>
        </p:txBody>
      </p:sp>
      <p:sp>
        <p:nvSpPr>
          <p:cNvPr id="7" name="TextBox 6"/>
          <p:cNvSpPr txBox="1"/>
          <p:nvPr/>
        </p:nvSpPr>
        <p:spPr>
          <a:xfrm>
            <a:off x="768096" y="3154680"/>
            <a:ext cx="7772400" cy="1097280"/>
          </a:xfrm>
          <a:prstGeom prst="rect">
            <a:avLst/>
          </a:prstGeom>
          <a:noFill/>
        </p:spPr>
        <p:txBody>
          <a:bodyPr wrap="none">
            <a:spAutoFit/>
          </a:bodyPr>
          <a:lstStyle/>
          <a:p>
            <a:pPr>
              <a:defRPr sz="1800">
                <a:solidFill>
                  <a:srgbClr val="FFFFFF"/>
                </a:solidFill>
                <a:latin typeface="Aptos"/>
              </a:defRPr>
            </a:pPr>
            <a:r>
              <a:t>Artificial Intelligence &amp; Machine Learning in the Real World</a:t>
            </a:r>
          </a:p>
        </p:txBody>
      </p:sp>
      <p:sp>
        <p:nvSpPr>
          <p:cNvPr id="8" name="TextBox 7"/>
          <p:cNvSpPr txBox="1"/>
          <p:nvPr/>
        </p:nvSpPr>
        <p:spPr>
          <a:xfrm>
            <a:off x="768096" y="4754880"/>
            <a:ext cx="7772400" cy="914400"/>
          </a:xfrm>
          <a:prstGeom prst="rect">
            <a:avLst/>
          </a:prstGeom>
          <a:noFill/>
        </p:spPr>
        <p:txBody>
          <a:bodyPr wrap="none">
            <a:spAutoFit/>
          </a:bodyPr>
          <a:lstStyle/>
          <a:p>
            <a:pPr>
              <a:defRPr sz="1400">
                <a:solidFill>
                  <a:srgbClr val="FFFFFF"/>
                </a:solidFill>
                <a:latin typeface="Aptos"/>
              </a:defRPr>
            </a:pPr>
            <a:r>
              <a:t>Ayush Kashyap</a:t>
            </a:r>
            <a:br/>
            <a:r>
              <a:t>InAmigos Foundation</a:t>
            </a:r>
            <a:br/>
            <a:r>
              <a:t>28 August 2026 – 10 September 2026</a:t>
            </a:r>
          </a:p>
        </p:txBody>
      </p:sp>
      <p:sp>
        <p:nvSpPr>
          <p:cNvPr id="9" name="TextBox 8"/>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Presentation Overview</a:t>
            </a:r>
          </a:p>
        </p:txBody>
      </p:sp>
      <p:sp>
        <p:nvSpPr>
          <p:cNvPr id="5" name="TextBox 4"/>
          <p:cNvSpPr txBox="1"/>
          <p:nvPr/>
        </p:nvSpPr>
        <p:spPr>
          <a:xfrm>
            <a:off x="621792" y="987552"/>
            <a:ext cx="10789920" cy="365760"/>
          </a:xfrm>
          <a:prstGeom prst="rect">
            <a:avLst/>
          </a:prstGeom>
          <a:noFill/>
        </p:spPr>
        <p:txBody>
          <a:bodyPr wrap="none">
            <a:spAutoFit/>
          </a:bodyPr>
          <a:lstStyle/>
          <a:p>
            <a:pPr>
              <a:defRPr sz="1100">
                <a:solidFill>
                  <a:srgbClr val="646464"/>
                </a:solidFill>
                <a:latin typeface="Aptos"/>
              </a:defRPr>
            </a:pPr>
            <a:r>
              <a:t>A concise visual summary of the internship learning and practical exploration</a:t>
            </a:r>
          </a:p>
        </p:txBody>
      </p:sp>
      <p:sp>
        <p:nvSpPr>
          <p:cNvPr id="6" name="Rounded Rectangle 5"/>
          <p:cNvSpPr/>
          <p:nvPr/>
        </p:nvSpPr>
        <p:spPr>
          <a:xfrm>
            <a:off x="685800" y="1508760"/>
            <a:ext cx="5074920" cy="16916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673351"/>
            <a:ext cx="4672583" cy="411480"/>
          </a:xfrm>
          <a:prstGeom prst="rect">
            <a:avLst/>
          </a:prstGeom>
          <a:noFill/>
        </p:spPr>
        <p:txBody>
          <a:bodyPr wrap="none">
            <a:spAutoFit/>
          </a:bodyPr>
          <a:lstStyle/>
          <a:p>
            <a:pPr>
              <a:defRPr sz="1600" b="1">
                <a:solidFill>
                  <a:srgbClr val="17365D"/>
                </a:solidFill>
                <a:latin typeface="Aptos Display"/>
              </a:defRPr>
            </a:pPr>
            <a:r>
              <a:t>AI &amp; ML Foundations</a:t>
            </a:r>
          </a:p>
        </p:txBody>
      </p:sp>
      <p:sp>
        <p:nvSpPr>
          <p:cNvPr id="8" name="TextBox 7"/>
          <p:cNvSpPr txBox="1"/>
          <p:nvPr/>
        </p:nvSpPr>
        <p:spPr>
          <a:xfrm>
            <a:off x="886968" y="2167128"/>
            <a:ext cx="4672583" cy="868680"/>
          </a:xfrm>
          <a:prstGeom prst="rect">
            <a:avLst/>
          </a:prstGeom>
          <a:noFill/>
        </p:spPr>
        <p:txBody>
          <a:bodyPr wrap="none">
            <a:spAutoFit/>
          </a:bodyPr>
          <a:lstStyle/>
          <a:p>
            <a:pPr>
              <a:spcAft>
                <a:spcPts val="400"/>
              </a:spcAft>
              <a:defRPr sz="1250">
                <a:solidFill>
                  <a:srgbClr val="232323"/>
                </a:solidFill>
                <a:latin typeface="Aptos"/>
              </a:defRPr>
            </a:pPr>
            <a:r>
              <a:t>Core concepts, terminology, and the relationship between AI, ML, and Deep Learning.</a:t>
            </a:r>
          </a:p>
        </p:txBody>
      </p:sp>
      <p:sp>
        <p:nvSpPr>
          <p:cNvPr id="9" name="Rounded Rectangle 8"/>
          <p:cNvSpPr/>
          <p:nvPr/>
        </p:nvSpPr>
        <p:spPr>
          <a:xfrm>
            <a:off x="6263640" y="1508760"/>
            <a:ext cx="5074920" cy="16916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7" y="1673351"/>
            <a:ext cx="4672583" cy="411480"/>
          </a:xfrm>
          <a:prstGeom prst="rect">
            <a:avLst/>
          </a:prstGeom>
          <a:noFill/>
        </p:spPr>
        <p:txBody>
          <a:bodyPr wrap="none">
            <a:spAutoFit/>
          </a:bodyPr>
          <a:lstStyle/>
          <a:p>
            <a:pPr>
              <a:defRPr sz="1600" b="1">
                <a:solidFill>
                  <a:srgbClr val="17365D"/>
                </a:solidFill>
                <a:latin typeface="Aptos Display"/>
              </a:defRPr>
            </a:pPr>
            <a:r>
              <a:t>Learning Systems</a:t>
            </a:r>
          </a:p>
        </p:txBody>
      </p:sp>
      <p:sp>
        <p:nvSpPr>
          <p:cNvPr id="11" name="TextBox 10"/>
          <p:cNvSpPr txBox="1"/>
          <p:nvPr/>
        </p:nvSpPr>
        <p:spPr>
          <a:xfrm>
            <a:off x="6464807" y="2167128"/>
            <a:ext cx="4672583" cy="868680"/>
          </a:xfrm>
          <a:prstGeom prst="rect">
            <a:avLst/>
          </a:prstGeom>
          <a:noFill/>
        </p:spPr>
        <p:txBody>
          <a:bodyPr wrap="none">
            <a:spAutoFit/>
          </a:bodyPr>
          <a:lstStyle/>
          <a:p>
            <a:pPr>
              <a:spcAft>
                <a:spcPts val="400"/>
              </a:spcAft>
              <a:defRPr sz="1250">
                <a:solidFill>
                  <a:srgbClr val="232323"/>
                </a:solidFill>
                <a:latin typeface="Aptos"/>
              </a:defRPr>
            </a:pPr>
            <a:r>
              <a:t>How data, training, testing, and prediction work together.</a:t>
            </a:r>
          </a:p>
        </p:txBody>
      </p:sp>
      <p:sp>
        <p:nvSpPr>
          <p:cNvPr id="12" name="Rounded Rectangle 11"/>
          <p:cNvSpPr/>
          <p:nvPr/>
        </p:nvSpPr>
        <p:spPr>
          <a:xfrm>
            <a:off x="685800" y="3611879"/>
            <a:ext cx="5074920" cy="16916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3776472"/>
            <a:ext cx="4672583" cy="411480"/>
          </a:xfrm>
          <a:prstGeom prst="rect">
            <a:avLst/>
          </a:prstGeom>
          <a:noFill/>
        </p:spPr>
        <p:txBody>
          <a:bodyPr wrap="none">
            <a:spAutoFit/>
          </a:bodyPr>
          <a:lstStyle/>
          <a:p>
            <a:pPr>
              <a:defRPr sz="1600" b="1">
                <a:solidFill>
                  <a:srgbClr val="17365D"/>
                </a:solidFill>
                <a:latin typeface="Aptos Display"/>
              </a:defRPr>
            </a:pPr>
            <a:r>
              <a:t>Practical Exploration</a:t>
            </a:r>
          </a:p>
        </p:txBody>
      </p:sp>
      <p:sp>
        <p:nvSpPr>
          <p:cNvPr id="14" name="TextBox 13"/>
          <p:cNvSpPr txBox="1"/>
          <p:nvPr/>
        </p:nvSpPr>
        <p:spPr>
          <a:xfrm>
            <a:off x="886968" y="4270248"/>
            <a:ext cx="4672583" cy="868680"/>
          </a:xfrm>
          <a:prstGeom prst="rect">
            <a:avLst/>
          </a:prstGeom>
          <a:noFill/>
        </p:spPr>
        <p:txBody>
          <a:bodyPr wrap="none">
            <a:spAutoFit/>
          </a:bodyPr>
          <a:lstStyle/>
          <a:p>
            <a:pPr>
              <a:spcAft>
                <a:spcPts val="400"/>
              </a:spcAft>
              <a:defRPr sz="1250">
                <a:solidFill>
                  <a:srgbClr val="232323"/>
                </a:solidFill>
                <a:latin typeface="Aptos"/>
              </a:defRPr>
            </a:pPr>
            <a:r>
              <a:t>A beginner-friendly model development workflow using examples.</a:t>
            </a:r>
          </a:p>
        </p:txBody>
      </p:sp>
      <p:sp>
        <p:nvSpPr>
          <p:cNvPr id="15" name="Rounded Rectangle 14"/>
          <p:cNvSpPr/>
          <p:nvPr/>
        </p:nvSpPr>
        <p:spPr>
          <a:xfrm>
            <a:off x="6263640" y="3611879"/>
            <a:ext cx="5074920" cy="16916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7" y="3776472"/>
            <a:ext cx="4672583" cy="411480"/>
          </a:xfrm>
          <a:prstGeom prst="rect">
            <a:avLst/>
          </a:prstGeom>
          <a:noFill/>
        </p:spPr>
        <p:txBody>
          <a:bodyPr wrap="none">
            <a:spAutoFit/>
          </a:bodyPr>
          <a:lstStyle/>
          <a:p>
            <a:pPr>
              <a:defRPr sz="1600" b="1">
                <a:solidFill>
                  <a:srgbClr val="17365D"/>
                </a:solidFill>
                <a:latin typeface="Aptos Display"/>
              </a:defRPr>
            </a:pPr>
            <a:r>
              <a:t>Real-World Applications</a:t>
            </a:r>
          </a:p>
        </p:txBody>
      </p:sp>
      <p:sp>
        <p:nvSpPr>
          <p:cNvPr id="17" name="TextBox 16"/>
          <p:cNvSpPr txBox="1"/>
          <p:nvPr/>
        </p:nvSpPr>
        <p:spPr>
          <a:xfrm>
            <a:off x="6464807" y="4270248"/>
            <a:ext cx="4672583" cy="868680"/>
          </a:xfrm>
          <a:prstGeom prst="rect">
            <a:avLst/>
          </a:prstGeom>
          <a:noFill/>
        </p:spPr>
        <p:txBody>
          <a:bodyPr wrap="none">
            <a:spAutoFit/>
          </a:bodyPr>
          <a:lstStyle/>
          <a:p>
            <a:pPr>
              <a:spcAft>
                <a:spcPts val="400"/>
              </a:spcAft>
              <a:defRPr sz="1250">
                <a:solidFill>
                  <a:srgbClr val="232323"/>
                </a:solidFill>
                <a:latin typeface="Aptos"/>
              </a:defRPr>
            </a:pPr>
            <a:r>
              <a:t>Healthcare, agriculture, education, transportation, and environment.</a:t>
            </a:r>
          </a:p>
        </p:txBody>
      </p:sp>
      <p:sp>
        <p:nvSpPr>
          <p:cNvPr id="18" name="TextBox 17"/>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Foundations of AI &amp; Machine Learning</a:t>
            </a:r>
          </a:p>
        </p:txBody>
      </p:sp>
      <p:sp>
        <p:nvSpPr>
          <p:cNvPr id="5" name="Rounded Rectangle 4"/>
          <p:cNvSpPr/>
          <p:nvPr/>
        </p:nvSpPr>
        <p:spPr>
          <a:xfrm>
            <a:off x="685800" y="1417320"/>
            <a:ext cx="3474720" cy="1874519"/>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581912"/>
            <a:ext cx="3072384" cy="411480"/>
          </a:xfrm>
          <a:prstGeom prst="rect">
            <a:avLst/>
          </a:prstGeom>
          <a:noFill/>
        </p:spPr>
        <p:txBody>
          <a:bodyPr wrap="none">
            <a:spAutoFit/>
          </a:bodyPr>
          <a:lstStyle/>
          <a:p>
            <a:pPr>
              <a:defRPr sz="1600" b="1">
                <a:solidFill>
                  <a:srgbClr val="17365D"/>
                </a:solidFill>
                <a:latin typeface="Aptos Display"/>
              </a:defRPr>
            </a:pPr>
            <a:r>
              <a:t>Artificial Intelligence</a:t>
            </a:r>
          </a:p>
        </p:txBody>
      </p:sp>
      <p:sp>
        <p:nvSpPr>
          <p:cNvPr id="7" name="TextBox 6"/>
          <p:cNvSpPr txBox="1"/>
          <p:nvPr/>
        </p:nvSpPr>
        <p:spPr>
          <a:xfrm>
            <a:off x="886968" y="2075688"/>
            <a:ext cx="3072384" cy="1051560"/>
          </a:xfrm>
          <a:prstGeom prst="rect">
            <a:avLst/>
          </a:prstGeom>
          <a:noFill/>
        </p:spPr>
        <p:txBody>
          <a:bodyPr wrap="none">
            <a:spAutoFit/>
          </a:bodyPr>
          <a:lstStyle/>
          <a:p>
            <a:pPr>
              <a:spcAft>
                <a:spcPts val="400"/>
              </a:spcAft>
              <a:defRPr sz="1250">
                <a:solidFill>
                  <a:srgbClr val="232323"/>
                </a:solidFill>
                <a:latin typeface="Aptos"/>
              </a:defRPr>
            </a:pPr>
            <a:r>
              <a:t>The broader field of creating systems that can perform tasks involving perception, reasoning, language, and decision-making.</a:t>
            </a:r>
          </a:p>
        </p:txBody>
      </p:sp>
      <p:sp>
        <p:nvSpPr>
          <p:cNvPr id="8" name="Rounded Rectangle 7"/>
          <p:cNvSpPr/>
          <p:nvPr/>
        </p:nvSpPr>
        <p:spPr>
          <a:xfrm>
            <a:off x="4370832" y="1417320"/>
            <a:ext cx="3474720" cy="1874519"/>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81912"/>
            <a:ext cx="3072384" cy="411480"/>
          </a:xfrm>
          <a:prstGeom prst="rect">
            <a:avLst/>
          </a:prstGeom>
          <a:noFill/>
        </p:spPr>
        <p:txBody>
          <a:bodyPr wrap="none">
            <a:spAutoFit/>
          </a:bodyPr>
          <a:lstStyle/>
          <a:p>
            <a:pPr>
              <a:defRPr sz="1600" b="1">
                <a:solidFill>
                  <a:srgbClr val="17365D"/>
                </a:solidFill>
                <a:latin typeface="Aptos Display"/>
              </a:defRPr>
            </a:pPr>
            <a:r>
              <a:t>Machine Learning</a:t>
            </a:r>
          </a:p>
        </p:txBody>
      </p:sp>
      <p:sp>
        <p:nvSpPr>
          <p:cNvPr id="10" name="TextBox 9"/>
          <p:cNvSpPr txBox="1"/>
          <p:nvPr/>
        </p:nvSpPr>
        <p:spPr>
          <a:xfrm>
            <a:off x="4572000" y="2075688"/>
            <a:ext cx="3072384" cy="1051560"/>
          </a:xfrm>
          <a:prstGeom prst="rect">
            <a:avLst/>
          </a:prstGeom>
          <a:noFill/>
        </p:spPr>
        <p:txBody>
          <a:bodyPr wrap="none">
            <a:spAutoFit/>
          </a:bodyPr>
          <a:lstStyle/>
          <a:p>
            <a:pPr>
              <a:spcAft>
                <a:spcPts val="400"/>
              </a:spcAft>
              <a:defRPr sz="1250">
                <a:solidFill>
                  <a:srgbClr val="232323"/>
                </a:solidFill>
                <a:latin typeface="Aptos"/>
              </a:defRPr>
            </a:pPr>
            <a:r>
              <a:t>A way of building AI systems that learn patterns from data and use them to make predictions or decisions.</a:t>
            </a:r>
          </a:p>
        </p:txBody>
      </p:sp>
      <p:sp>
        <p:nvSpPr>
          <p:cNvPr id="11" name="Rounded Rectangle 10"/>
          <p:cNvSpPr/>
          <p:nvPr/>
        </p:nvSpPr>
        <p:spPr>
          <a:xfrm>
            <a:off x="8055864" y="1417320"/>
            <a:ext cx="3474720" cy="1874519"/>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2" y="1581912"/>
            <a:ext cx="3072384" cy="411480"/>
          </a:xfrm>
          <a:prstGeom prst="rect">
            <a:avLst/>
          </a:prstGeom>
          <a:noFill/>
        </p:spPr>
        <p:txBody>
          <a:bodyPr wrap="none">
            <a:spAutoFit/>
          </a:bodyPr>
          <a:lstStyle/>
          <a:p>
            <a:pPr>
              <a:defRPr sz="1600" b="1">
                <a:solidFill>
                  <a:srgbClr val="17365D"/>
                </a:solidFill>
                <a:latin typeface="Aptos Display"/>
              </a:defRPr>
            </a:pPr>
            <a:r>
              <a:t>Deep Learning</a:t>
            </a:r>
          </a:p>
        </p:txBody>
      </p:sp>
      <p:sp>
        <p:nvSpPr>
          <p:cNvPr id="13" name="TextBox 12"/>
          <p:cNvSpPr txBox="1"/>
          <p:nvPr/>
        </p:nvSpPr>
        <p:spPr>
          <a:xfrm>
            <a:off x="8257032" y="2075688"/>
            <a:ext cx="3072384" cy="1051560"/>
          </a:xfrm>
          <a:prstGeom prst="rect">
            <a:avLst/>
          </a:prstGeom>
          <a:noFill/>
        </p:spPr>
        <p:txBody>
          <a:bodyPr wrap="none">
            <a:spAutoFit/>
          </a:bodyPr>
          <a:lstStyle/>
          <a:p>
            <a:pPr>
              <a:spcAft>
                <a:spcPts val="400"/>
              </a:spcAft>
              <a:defRPr sz="1250">
                <a:solidFill>
                  <a:srgbClr val="232323"/>
                </a:solidFill>
                <a:latin typeface="Aptos"/>
              </a:defRPr>
            </a:pPr>
            <a:r>
              <a:t>A branch of ML using multi-layer neural networks, especially useful for images, audio, and language.</a:t>
            </a:r>
          </a:p>
        </p:txBody>
      </p:sp>
      <p:sp>
        <p:nvSpPr>
          <p:cNvPr id="14" name="Rounded Rectangle 13"/>
          <p:cNvSpPr/>
          <p:nvPr/>
        </p:nvSpPr>
        <p:spPr>
          <a:xfrm>
            <a:off x="685800" y="3657600"/>
            <a:ext cx="3474720" cy="15087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822191"/>
            <a:ext cx="3072384" cy="411480"/>
          </a:xfrm>
          <a:prstGeom prst="rect">
            <a:avLst/>
          </a:prstGeom>
          <a:noFill/>
        </p:spPr>
        <p:txBody>
          <a:bodyPr wrap="none">
            <a:spAutoFit/>
          </a:bodyPr>
          <a:lstStyle/>
          <a:p>
            <a:pPr>
              <a:defRPr sz="1600" b="1">
                <a:solidFill>
                  <a:srgbClr val="17365D"/>
                </a:solidFill>
                <a:latin typeface="Aptos Display"/>
              </a:defRPr>
            </a:pPr>
            <a:r>
              <a:t>Supervised Learning</a:t>
            </a:r>
          </a:p>
        </p:txBody>
      </p:sp>
      <p:sp>
        <p:nvSpPr>
          <p:cNvPr id="16" name="TextBox 15"/>
          <p:cNvSpPr txBox="1"/>
          <p:nvPr/>
        </p:nvSpPr>
        <p:spPr>
          <a:xfrm>
            <a:off x="886968" y="4315968"/>
            <a:ext cx="3072384" cy="685799"/>
          </a:xfrm>
          <a:prstGeom prst="rect">
            <a:avLst/>
          </a:prstGeom>
          <a:noFill/>
        </p:spPr>
        <p:txBody>
          <a:bodyPr wrap="none">
            <a:spAutoFit/>
          </a:bodyPr>
          <a:lstStyle/>
          <a:p>
            <a:pPr>
              <a:spcAft>
                <a:spcPts val="400"/>
              </a:spcAft>
              <a:defRPr sz="1250">
                <a:solidFill>
                  <a:srgbClr val="232323"/>
                </a:solidFill>
                <a:latin typeface="Aptos"/>
              </a:defRPr>
            </a:pPr>
            <a:r>
              <a:t>Learns from labeled examples. Example: spam detection.</a:t>
            </a:r>
          </a:p>
        </p:txBody>
      </p:sp>
      <p:sp>
        <p:nvSpPr>
          <p:cNvPr id="17" name="Rounded Rectangle 16"/>
          <p:cNvSpPr/>
          <p:nvPr/>
        </p:nvSpPr>
        <p:spPr>
          <a:xfrm>
            <a:off x="4370832" y="3657600"/>
            <a:ext cx="3474720" cy="15087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822191"/>
            <a:ext cx="3072384" cy="411480"/>
          </a:xfrm>
          <a:prstGeom prst="rect">
            <a:avLst/>
          </a:prstGeom>
          <a:noFill/>
        </p:spPr>
        <p:txBody>
          <a:bodyPr wrap="none">
            <a:spAutoFit/>
          </a:bodyPr>
          <a:lstStyle/>
          <a:p>
            <a:pPr>
              <a:defRPr sz="1600" b="1">
                <a:solidFill>
                  <a:srgbClr val="17365D"/>
                </a:solidFill>
                <a:latin typeface="Aptos Display"/>
              </a:defRPr>
            </a:pPr>
            <a:r>
              <a:t>Unsupervised Learning</a:t>
            </a:r>
          </a:p>
        </p:txBody>
      </p:sp>
      <p:sp>
        <p:nvSpPr>
          <p:cNvPr id="19" name="TextBox 18"/>
          <p:cNvSpPr txBox="1"/>
          <p:nvPr/>
        </p:nvSpPr>
        <p:spPr>
          <a:xfrm>
            <a:off x="4572000" y="4315968"/>
            <a:ext cx="3072384" cy="685799"/>
          </a:xfrm>
          <a:prstGeom prst="rect">
            <a:avLst/>
          </a:prstGeom>
          <a:noFill/>
        </p:spPr>
        <p:txBody>
          <a:bodyPr wrap="none">
            <a:spAutoFit/>
          </a:bodyPr>
          <a:lstStyle/>
          <a:p>
            <a:pPr>
              <a:spcAft>
                <a:spcPts val="400"/>
              </a:spcAft>
              <a:defRPr sz="1250">
                <a:solidFill>
                  <a:srgbClr val="232323"/>
                </a:solidFill>
                <a:latin typeface="Aptos"/>
              </a:defRPr>
            </a:pPr>
            <a:r>
              <a:t>Finds patterns or groups without labels. Example: customer clustering.</a:t>
            </a:r>
          </a:p>
        </p:txBody>
      </p:sp>
      <p:sp>
        <p:nvSpPr>
          <p:cNvPr id="20" name="Rounded Rectangle 19"/>
          <p:cNvSpPr/>
          <p:nvPr/>
        </p:nvSpPr>
        <p:spPr>
          <a:xfrm>
            <a:off x="8055864" y="3657600"/>
            <a:ext cx="3474720" cy="15087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2" y="3822191"/>
            <a:ext cx="3072384" cy="411480"/>
          </a:xfrm>
          <a:prstGeom prst="rect">
            <a:avLst/>
          </a:prstGeom>
          <a:noFill/>
        </p:spPr>
        <p:txBody>
          <a:bodyPr wrap="none">
            <a:spAutoFit/>
          </a:bodyPr>
          <a:lstStyle/>
          <a:p>
            <a:pPr>
              <a:defRPr sz="1600" b="1">
                <a:solidFill>
                  <a:srgbClr val="17365D"/>
                </a:solidFill>
                <a:latin typeface="Aptos Display"/>
              </a:defRPr>
            </a:pPr>
            <a:r>
              <a:t>Reinforcement Learning</a:t>
            </a:r>
          </a:p>
        </p:txBody>
      </p:sp>
      <p:sp>
        <p:nvSpPr>
          <p:cNvPr id="22" name="TextBox 21"/>
          <p:cNvSpPr txBox="1"/>
          <p:nvPr/>
        </p:nvSpPr>
        <p:spPr>
          <a:xfrm>
            <a:off x="8257032" y="4315968"/>
            <a:ext cx="3072384" cy="685799"/>
          </a:xfrm>
          <a:prstGeom prst="rect">
            <a:avLst/>
          </a:prstGeom>
          <a:noFill/>
        </p:spPr>
        <p:txBody>
          <a:bodyPr wrap="none">
            <a:spAutoFit/>
          </a:bodyPr>
          <a:lstStyle/>
          <a:p>
            <a:pPr>
              <a:spcAft>
                <a:spcPts val="400"/>
              </a:spcAft>
              <a:defRPr sz="1250">
                <a:solidFill>
                  <a:srgbClr val="232323"/>
                </a:solidFill>
                <a:latin typeface="Aptos"/>
              </a:defRPr>
            </a:pPr>
            <a:r>
              <a:t>Learns through actions and feedback. Example: game-playing agents.</a:t>
            </a:r>
          </a:p>
        </p:txBody>
      </p:sp>
      <p:sp>
        <p:nvSpPr>
          <p:cNvPr id="23" name="TextBox 22"/>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How a Machine Learning System Learns</a:t>
            </a:r>
          </a:p>
        </p:txBody>
      </p:sp>
      <p:sp>
        <p:nvSpPr>
          <p:cNvPr id="5" name="TextBox 4"/>
          <p:cNvSpPr txBox="1"/>
          <p:nvPr/>
        </p:nvSpPr>
        <p:spPr>
          <a:xfrm>
            <a:off x="621792" y="987552"/>
            <a:ext cx="10789920" cy="365760"/>
          </a:xfrm>
          <a:prstGeom prst="rect">
            <a:avLst/>
          </a:prstGeom>
          <a:noFill/>
        </p:spPr>
        <p:txBody>
          <a:bodyPr wrap="none">
            <a:spAutoFit/>
          </a:bodyPr>
          <a:lstStyle/>
          <a:p>
            <a:pPr>
              <a:defRPr sz="1100">
                <a:solidFill>
                  <a:srgbClr val="646464"/>
                </a:solidFill>
                <a:latin typeface="Aptos"/>
              </a:defRPr>
            </a:pPr>
            <a:r>
              <a:t>From raw examples to useful predictions</a:t>
            </a:r>
          </a:p>
        </p:txBody>
      </p:sp>
      <p:sp>
        <p:nvSpPr>
          <p:cNvPr id="6" name="Rounded Rectangle 5"/>
          <p:cNvSpPr/>
          <p:nvPr/>
        </p:nvSpPr>
        <p:spPr>
          <a:xfrm>
            <a:off x="594360" y="1828800"/>
            <a:ext cx="1645920" cy="2743200"/>
          </a:xfrm>
          <a:prstGeom prst="roundRect">
            <a:avLst/>
          </a:prstGeom>
          <a:solidFill>
            <a:srgbClr val="F0F4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11680"/>
            <a:ext cx="1371600" cy="411480"/>
          </a:xfrm>
          <a:prstGeom prst="rect">
            <a:avLst/>
          </a:prstGeom>
          <a:noFill/>
        </p:spPr>
        <p:txBody>
          <a:bodyPr wrap="none">
            <a:spAutoFit/>
          </a:bodyPr>
          <a:lstStyle/>
          <a:p>
            <a:pPr>
              <a:defRPr sz="1800" b="1">
                <a:solidFill>
                  <a:srgbClr val="2F5597"/>
                </a:solidFill>
              </a:defRPr>
            </a:pPr>
            <a:r>
              <a:t>01</a:t>
            </a:r>
          </a:p>
        </p:txBody>
      </p:sp>
      <p:sp>
        <p:nvSpPr>
          <p:cNvPr id="8" name="TextBox 7"/>
          <p:cNvSpPr txBox="1"/>
          <p:nvPr/>
        </p:nvSpPr>
        <p:spPr>
          <a:xfrm>
            <a:off x="731520" y="2514600"/>
            <a:ext cx="1371600" cy="457200"/>
          </a:xfrm>
          <a:prstGeom prst="rect">
            <a:avLst/>
          </a:prstGeom>
          <a:noFill/>
        </p:spPr>
        <p:txBody>
          <a:bodyPr wrap="none">
            <a:spAutoFit/>
          </a:bodyPr>
          <a:lstStyle/>
          <a:p>
            <a:pPr>
              <a:defRPr sz="1500" b="1">
                <a:solidFill>
                  <a:srgbClr val="17365D"/>
                </a:solidFill>
              </a:defRPr>
            </a:pPr>
            <a:r>
              <a:t>Collect</a:t>
            </a:r>
          </a:p>
        </p:txBody>
      </p:sp>
      <p:sp>
        <p:nvSpPr>
          <p:cNvPr id="9" name="TextBox 8"/>
          <p:cNvSpPr txBox="1"/>
          <p:nvPr/>
        </p:nvSpPr>
        <p:spPr>
          <a:xfrm>
            <a:off x="731520" y="3108960"/>
            <a:ext cx="1371600" cy="1097280"/>
          </a:xfrm>
          <a:prstGeom prst="rect">
            <a:avLst/>
          </a:prstGeom>
          <a:noFill/>
        </p:spPr>
        <p:txBody>
          <a:bodyPr wrap="none">
            <a:spAutoFit/>
          </a:bodyPr>
          <a:lstStyle/>
          <a:p>
            <a:pPr>
              <a:defRPr sz="1150">
                <a:solidFill>
                  <a:srgbClr val="232323"/>
                </a:solidFill>
              </a:defRPr>
            </a:pPr>
            <a:r>
              <a:t>Gather relevant examples</a:t>
            </a:r>
          </a:p>
        </p:txBody>
      </p:sp>
      <p:sp>
        <p:nvSpPr>
          <p:cNvPr id="10" name="Rounded Rectangle 9"/>
          <p:cNvSpPr/>
          <p:nvPr/>
        </p:nvSpPr>
        <p:spPr>
          <a:xfrm>
            <a:off x="2514600" y="1828800"/>
            <a:ext cx="1645920" cy="2743200"/>
          </a:xfrm>
          <a:prstGeom prst="roundRect">
            <a:avLst/>
          </a:prstGeom>
          <a:solidFill>
            <a:srgbClr val="F0F4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0" y="2011680"/>
            <a:ext cx="1371600" cy="411480"/>
          </a:xfrm>
          <a:prstGeom prst="rect">
            <a:avLst/>
          </a:prstGeom>
          <a:noFill/>
        </p:spPr>
        <p:txBody>
          <a:bodyPr wrap="none">
            <a:spAutoFit/>
          </a:bodyPr>
          <a:lstStyle/>
          <a:p>
            <a:pPr>
              <a:defRPr sz="1800" b="1">
                <a:solidFill>
                  <a:srgbClr val="2F5597"/>
                </a:solidFill>
              </a:defRPr>
            </a:pPr>
            <a:r>
              <a:t>02</a:t>
            </a:r>
          </a:p>
        </p:txBody>
      </p:sp>
      <p:sp>
        <p:nvSpPr>
          <p:cNvPr id="12" name="TextBox 11"/>
          <p:cNvSpPr txBox="1"/>
          <p:nvPr/>
        </p:nvSpPr>
        <p:spPr>
          <a:xfrm>
            <a:off x="2651760" y="2514600"/>
            <a:ext cx="1371600" cy="457200"/>
          </a:xfrm>
          <a:prstGeom prst="rect">
            <a:avLst/>
          </a:prstGeom>
          <a:noFill/>
        </p:spPr>
        <p:txBody>
          <a:bodyPr wrap="none">
            <a:spAutoFit/>
          </a:bodyPr>
          <a:lstStyle/>
          <a:p>
            <a:pPr>
              <a:defRPr sz="1500" b="1">
                <a:solidFill>
                  <a:srgbClr val="17365D"/>
                </a:solidFill>
              </a:defRPr>
            </a:pPr>
            <a:r>
              <a:t>Prepare</a:t>
            </a:r>
          </a:p>
        </p:txBody>
      </p:sp>
      <p:sp>
        <p:nvSpPr>
          <p:cNvPr id="13" name="TextBox 12"/>
          <p:cNvSpPr txBox="1"/>
          <p:nvPr/>
        </p:nvSpPr>
        <p:spPr>
          <a:xfrm>
            <a:off x="2651760" y="3108960"/>
            <a:ext cx="1371600" cy="1097280"/>
          </a:xfrm>
          <a:prstGeom prst="rect">
            <a:avLst/>
          </a:prstGeom>
          <a:noFill/>
        </p:spPr>
        <p:txBody>
          <a:bodyPr wrap="none">
            <a:spAutoFit/>
          </a:bodyPr>
          <a:lstStyle/>
          <a:p>
            <a:pPr>
              <a:defRPr sz="1150">
                <a:solidFill>
                  <a:srgbClr val="232323"/>
                </a:solidFill>
              </a:defRPr>
            </a:pPr>
            <a:r>
              <a:t>Clean, label, and organize data</a:t>
            </a:r>
          </a:p>
        </p:txBody>
      </p:sp>
      <p:sp>
        <p:nvSpPr>
          <p:cNvPr id="14" name="Rounded Rectangle 13"/>
          <p:cNvSpPr/>
          <p:nvPr/>
        </p:nvSpPr>
        <p:spPr>
          <a:xfrm>
            <a:off x="4434840" y="1828800"/>
            <a:ext cx="1645920" cy="2743200"/>
          </a:xfrm>
          <a:prstGeom prst="roundRect">
            <a:avLst/>
          </a:prstGeom>
          <a:solidFill>
            <a:srgbClr val="F0F4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011680"/>
            <a:ext cx="1371600" cy="411480"/>
          </a:xfrm>
          <a:prstGeom prst="rect">
            <a:avLst/>
          </a:prstGeom>
          <a:noFill/>
        </p:spPr>
        <p:txBody>
          <a:bodyPr wrap="none">
            <a:spAutoFit/>
          </a:bodyPr>
          <a:lstStyle/>
          <a:p>
            <a:pPr>
              <a:defRPr sz="1800" b="1">
                <a:solidFill>
                  <a:srgbClr val="2F5597"/>
                </a:solidFill>
              </a:defRPr>
            </a:pPr>
            <a:r>
              <a:t>03</a:t>
            </a:r>
          </a:p>
        </p:txBody>
      </p:sp>
      <p:sp>
        <p:nvSpPr>
          <p:cNvPr id="16" name="TextBox 15"/>
          <p:cNvSpPr txBox="1"/>
          <p:nvPr/>
        </p:nvSpPr>
        <p:spPr>
          <a:xfrm>
            <a:off x="4572000" y="2514600"/>
            <a:ext cx="1371600" cy="457200"/>
          </a:xfrm>
          <a:prstGeom prst="rect">
            <a:avLst/>
          </a:prstGeom>
          <a:noFill/>
        </p:spPr>
        <p:txBody>
          <a:bodyPr wrap="none">
            <a:spAutoFit/>
          </a:bodyPr>
          <a:lstStyle/>
          <a:p>
            <a:pPr>
              <a:defRPr sz="1500" b="1">
                <a:solidFill>
                  <a:srgbClr val="17365D"/>
                </a:solidFill>
              </a:defRPr>
            </a:pPr>
            <a:r>
              <a:t>Train</a:t>
            </a:r>
          </a:p>
        </p:txBody>
      </p:sp>
      <p:sp>
        <p:nvSpPr>
          <p:cNvPr id="17" name="TextBox 16"/>
          <p:cNvSpPr txBox="1"/>
          <p:nvPr/>
        </p:nvSpPr>
        <p:spPr>
          <a:xfrm>
            <a:off x="4572000" y="3108960"/>
            <a:ext cx="1371600" cy="1097280"/>
          </a:xfrm>
          <a:prstGeom prst="rect">
            <a:avLst/>
          </a:prstGeom>
          <a:noFill/>
        </p:spPr>
        <p:txBody>
          <a:bodyPr wrap="none">
            <a:spAutoFit/>
          </a:bodyPr>
          <a:lstStyle/>
          <a:p>
            <a:pPr>
              <a:defRPr sz="1150">
                <a:solidFill>
                  <a:srgbClr val="232323"/>
                </a:solidFill>
              </a:defRPr>
            </a:pPr>
            <a:r>
              <a:t>Learn patterns from examples</a:t>
            </a:r>
          </a:p>
        </p:txBody>
      </p:sp>
      <p:sp>
        <p:nvSpPr>
          <p:cNvPr id="18" name="Rounded Rectangle 17"/>
          <p:cNvSpPr/>
          <p:nvPr/>
        </p:nvSpPr>
        <p:spPr>
          <a:xfrm>
            <a:off x="6355080" y="1828800"/>
            <a:ext cx="1645920" cy="2743200"/>
          </a:xfrm>
          <a:prstGeom prst="roundRect">
            <a:avLst/>
          </a:prstGeom>
          <a:solidFill>
            <a:srgbClr val="F0F4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011680"/>
            <a:ext cx="1371600" cy="411480"/>
          </a:xfrm>
          <a:prstGeom prst="rect">
            <a:avLst/>
          </a:prstGeom>
          <a:noFill/>
        </p:spPr>
        <p:txBody>
          <a:bodyPr wrap="none">
            <a:spAutoFit/>
          </a:bodyPr>
          <a:lstStyle/>
          <a:p>
            <a:pPr>
              <a:defRPr sz="1800" b="1">
                <a:solidFill>
                  <a:srgbClr val="2F5597"/>
                </a:solidFill>
              </a:defRPr>
            </a:pPr>
            <a:r>
              <a:t>04</a:t>
            </a:r>
          </a:p>
        </p:txBody>
      </p:sp>
      <p:sp>
        <p:nvSpPr>
          <p:cNvPr id="20" name="TextBox 19"/>
          <p:cNvSpPr txBox="1"/>
          <p:nvPr/>
        </p:nvSpPr>
        <p:spPr>
          <a:xfrm>
            <a:off x="6492240" y="2514600"/>
            <a:ext cx="1371600" cy="457200"/>
          </a:xfrm>
          <a:prstGeom prst="rect">
            <a:avLst/>
          </a:prstGeom>
          <a:noFill/>
        </p:spPr>
        <p:txBody>
          <a:bodyPr wrap="none">
            <a:spAutoFit/>
          </a:bodyPr>
          <a:lstStyle/>
          <a:p>
            <a:pPr>
              <a:defRPr sz="1500" b="1">
                <a:solidFill>
                  <a:srgbClr val="17365D"/>
                </a:solidFill>
              </a:defRPr>
            </a:pPr>
            <a:r>
              <a:t>Test</a:t>
            </a:r>
          </a:p>
        </p:txBody>
      </p:sp>
      <p:sp>
        <p:nvSpPr>
          <p:cNvPr id="21" name="TextBox 20"/>
          <p:cNvSpPr txBox="1"/>
          <p:nvPr/>
        </p:nvSpPr>
        <p:spPr>
          <a:xfrm>
            <a:off x="6492240" y="3108960"/>
            <a:ext cx="1371600" cy="1097280"/>
          </a:xfrm>
          <a:prstGeom prst="rect">
            <a:avLst/>
          </a:prstGeom>
          <a:noFill/>
        </p:spPr>
        <p:txBody>
          <a:bodyPr wrap="none">
            <a:spAutoFit/>
          </a:bodyPr>
          <a:lstStyle/>
          <a:p>
            <a:pPr>
              <a:defRPr sz="1150">
                <a:solidFill>
                  <a:srgbClr val="232323"/>
                </a:solidFill>
              </a:defRPr>
            </a:pPr>
            <a:r>
              <a:t>Evaluate on unseen inputs</a:t>
            </a:r>
          </a:p>
        </p:txBody>
      </p:sp>
      <p:sp>
        <p:nvSpPr>
          <p:cNvPr id="22" name="Rounded Rectangle 21"/>
          <p:cNvSpPr/>
          <p:nvPr/>
        </p:nvSpPr>
        <p:spPr>
          <a:xfrm>
            <a:off x="8275320" y="1828800"/>
            <a:ext cx="1645920" cy="2743200"/>
          </a:xfrm>
          <a:prstGeom prst="roundRect">
            <a:avLst/>
          </a:prstGeom>
          <a:solidFill>
            <a:srgbClr val="F0F4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011680"/>
            <a:ext cx="1371600" cy="411480"/>
          </a:xfrm>
          <a:prstGeom prst="rect">
            <a:avLst/>
          </a:prstGeom>
          <a:noFill/>
        </p:spPr>
        <p:txBody>
          <a:bodyPr wrap="none">
            <a:spAutoFit/>
          </a:bodyPr>
          <a:lstStyle/>
          <a:p>
            <a:pPr>
              <a:defRPr sz="1800" b="1">
                <a:solidFill>
                  <a:srgbClr val="2F5597"/>
                </a:solidFill>
              </a:defRPr>
            </a:pPr>
            <a:r>
              <a:t>05</a:t>
            </a:r>
          </a:p>
        </p:txBody>
      </p:sp>
      <p:sp>
        <p:nvSpPr>
          <p:cNvPr id="24" name="TextBox 23"/>
          <p:cNvSpPr txBox="1"/>
          <p:nvPr/>
        </p:nvSpPr>
        <p:spPr>
          <a:xfrm>
            <a:off x="8412480" y="2514600"/>
            <a:ext cx="1371600" cy="457200"/>
          </a:xfrm>
          <a:prstGeom prst="rect">
            <a:avLst/>
          </a:prstGeom>
          <a:noFill/>
        </p:spPr>
        <p:txBody>
          <a:bodyPr wrap="none">
            <a:spAutoFit/>
          </a:bodyPr>
          <a:lstStyle/>
          <a:p>
            <a:pPr>
              <a:defRPr sz="1500" b="1">
                <a:solidFill>
                  <a:srgbClr val="17365D"/>
                </a:solidFill>
              </a:defRPr>
            </a:pPr>
            <a:r>
              <a:t>Improve</a:t>
            </a:r>
          </a:p>
        </p:txBody>
      </p:sp>
      <p:sp>
        <p:nvSpPr>
          <p:cNvPr id="25" name="TextBox 24"/>
          <p:cNvSpPr txBox="1"/>
          <p:nvPr/>
        </p:nvSpPr>
        <p:spPr>
          <a:xfrm>
            <a:off x="8412480" y="3108960"/>
            <a:ext cx="1371600" cy="1097280"/>
          </a:xfrm>
          <a:prstGeom prst="rect">
            <a:avLst/>
          </a:prstGeom>
          <a:noFill/>
        </p:spPr>
        <p:txBody>
          <a:bodyPr wrap="none">
            <a:spAutoFit/>
          </a:bodyPr>
          <a:lstStyle/>
          <a:p>
            <a:pPr>
              <a:defRPr sz="1150">
                <a:solidFill>
                  <a:srgbClr val="232323"/>
                </a:solidFill>
              </a:defRPr>
            </a:pPr>
            <a:r>
              <a:t>Analyze errors and retrain</a:t>
            </a:r>
          </a:p>
        </p:txBody>
      </p:sp>
      <p:sp>
        <p:nvSpPr>
          <p:cNvPr id="26" name="Rounded Rectangle 25"/>
          <p:cNvSpPr/>
          <p:nvPr/>
        </p:nvSpPr>
        <p:spPr>
          <a:xfrm>
            <a:off x="10195560" y="1828800"/>
            <a:ext cx="1645920" cy="2743200"/>
          </a:xfrm>
          <a:prstGeom prst="roundRect">
            <a:avLst/>
          </a:prstGeom>
          <a:solidFill>
            <a:srgbClr val="F0F4FA"/>
          </a:solidFill>
          <a:ln>
            <a:solidFill>
              <a:srgbClr val="CDD7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0" y="2011680"/>
            <a:ext cx="1371600" cy="411480"/>
          </a:xfrm>
          <a:prstGeom prst="rect">
            <a:avLst/>
          </a:prstGeom>
          <a:noFill/>
        </p:spPr>
        <p:txBody>
          <a:bodyPr wrap="none">
            <a:spAutoFit/>
          </a:bodyPr>
          <a:lstStyle/>
          <a:p>
            <a:pPr>
              <a:defRPr sz="1800" b="1">
                <a:solidFill>
                  <a:srgbClr val="2F5597"/>
                </a:solidFill>
              </a:defRPr>
            </a:pPr>
            <a:r>
              <a:t>06</a:t>
            </a:r>
          </a:p>
        </p:txBody>
      </p:sp>
      <p:sp>
        <p:nvSpPr>
          <p:cNvPr id="28" name="TextBox 27"/>
          <p:cNvSpPr txBox="1"/>
          <p:nvPr/>
        </p:nvSpPr>
        <p:spPr>
          <a:xfrm>
            <a:off x="10332720" y="2514600"/>
            <a:ext cx="1371600" cy="457200"/>
          </a:xfrm>
          <a:prstGeom prst="rect">
            <a:avLst/>
          </a:prstGeom>
          <a:noFill/>
        </p:spPr>
        <p:txBody>
          <a:bodyPr wrap="none">
            <a:spAutoFit/>
          </a:bodyPr>
          <a:lstStyle/>
          <a:p>
            <a:pPr>
              <a:defRPr sz="1500" b="1">
                <a:solidFill>
                  <a:srgbClr val="17365D"/>
                </a:solidFill>
              </a:defRPr>
            </a:pPr>
            <a:r>
              <a:t>Predict</a:t>
            </a:r>
          </a:p>
        </p:txBody>
      </p:sp>
      <p:sp>
        <p:nvSpPr>
          <p:cNvPr id="29" name="TextBox 28"/>
          <p:cNvSpPr txBox="1"/>
          <p:nvPr/>
        </p:nvSpPr>
        <p:spPr>
          <a:xfrm>
            <a:off x="10332720" y="3108960"/>
            <a:ext cx="1371600" cy="1097280"/>
          </a:xfrm>
          <a:prstGeom prst="rect">
            <a:avLst/>
          </a:prstGeom>
          <a:noFill/>
        </p:spPr>
        <p:txBody>
          <a:bodyPr wrap="none">
            <a:spAutoFit/>
          </a:bodyPr>
          <a:lstStyle/>
          <a:p>
            <a:pPr>
              <a:defRPr sz="1150">
                <a:solidFill>
                  <a:srgbClr val="232323"/>
                </a:solidFill>
              </a:defRPr>
            </a:pPr>
            <a:r>
              <a:t>Apply the model to new data</a:t>
            </a:r>
          </a:p>
        </p:txBody>
      </p:sp>
      <p:sp>
        <p:nvSpPr>
          <p:cNvPr id="30" name="TextBox 29"/>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Practical Model Exploration</a:t>
            </a:r>
          </a:p>
        </p:txBody>
      </p:sp>
      <p:sp>
        <p:nvSpPr>
          <p:cNvPr id="5" name="TextBox 4"/>
          <p:cNvSpPr txBox="1"/>
          <p:nvPr/>
        </p:nvSpPr>
        <p:spPr>
          <a:xfrm>
            <a:off x="621792" y="987552"/>
            <a:ext cx="10789920" cy="365760"/>
          </a:xfrm>
          <a:prstGeom prst="rect">
            <a:avLst/>
          </a:prstGeom>
          <a:noFill/>
        </p:spPr>
        <p:txBody>
          <a:bodyPr wrap="none">
            <a:spAutoFit/>
          </a:bodyPr>
          <a:lstStyle/>
          <a:p>
            <a:pPr>
              <a:defRPr sz="1100">
                <a:solidFill>
                  <a:srgbClr val="646464"/>
                </a:solidFill>
                <a:latin typeface="Aptos"/>
              </a:defRPr>
            </a:pPr>
            <a:r>
              <a:t>Understanding model training without requiring advanced programming</a:t>
            </a:r>
          </a:p>
        </p:txBody>
      </p:sp>
      <p:sp>
        <p:nvSpPr>
          <p:cNvPr id="6" name="TextBox 5"/>
          <p:cNvSpPr txBox="1"/>
          <p:nvPr/>
        </p:nvSpPr>
        <p:spPr>
          <a:xfrm>
            <a:off x="777240" y="1417320"/>
            <a:ext cx="6400800" cy="4389120"/>
          </a:xfrm>
          <a:prstGeom prst="rect">
            <a:avLst/>
          </a:prstGeom>
          <a:noFill/>
        </p:spPr>
        <p:txBody>
          <a:bodyPr wrap="square">
            <a:spAutoFit/>
          </a:bodyPr>
          <a:lstStyle/>
          <a:p>
            <a:pPr>
              <a:spcAft>
                <a:spcPts val="1200"/>
              </a:spcAft>
              <a:defRPr sz="1700">
                <a:solidFill>
                  <a:srgbClr val="232323"/>
                </a:solidFill>
                <a:latin typeface="Aptos"/>
              </a:defRPr>
            </a:pPr>
            <a:r>
              <a:t>• Define categories the model should recognize.</a:t>
            </a:r>
          </a:p>
          <a:p>
            <a:pPr>
              <a:spcAft>
                <a:spcPts val="1200"/>
              </a:spcAft>
              <a:defRPr sz="1700">
                <a:solidFill>
                  <a:srgbClr val="232323"/>
                </a:solidFill>
                <a:latin typeface="Aptos"/>
              </a:defRPr>
            </a:pPr>
            <a:r>
              <a:t>• Collect varied examples for every category.</a:t>
            </a:r>
          </a:p>
          <a:p>
            <a:pPr>
              <a:spcAft>
                <a:spcPts val="1200"/>
              </a:spcAft>
              <a:defRPr sz="1700">
                <a:solidFill>
                  <a:srgbClr val="232323"/>
                </a:solidFill>
                <a:latin typeface="Aptos"/>
              </a:defRPr>
            </a:pPr>
            <a:r>
              <a:t>• Train the model so it can learn distinguishing patterns.</a:t>
            </a:r>
          </a:p>
          <a:p>
            <a:pPr>
              <a:spcAft>
                <a:spcPts val="1200"/>
              </a:spcAft>
              <a:defRPr sz="1700">
                <a:solidFill>
                  <a:srgbClr val="232323"/>
                </a:solidFill>
                <a:latin typeface="Aptos"/>
              </a:defRPr>
            </a:pPr>
            <a:r>
              <a:t>• Test it with new inputs that were not used for training.</a:t>
            </a:r>
          </a:p>
          <a:p>
            <a:pPr>
              <a:spcAft>
                <a:spcPts val="1200"/>
              </a:spcAft>
              <a:defRPr sz="1700">
                <a:solidFill>
                  <a:srgbClr val="232323"/>
                </a:solidFill>
                <a:latin typeface="Aptos"/>
              </a:defRPr>
            </a:pPr>
            <a:r>
              <a:t>• Study incorrect predictions and improve the examples.</a:t>
            </a:r>
          </a:p>
          <a:p>
            <a:pPr>
              <a:spcAft>
                <a:spcPts val="1200"/>
              </a:spcAft>
              <a:defRPr sz="1700">
                <a:solidFill>
                  <a:srgbClr val="232323"/>
                </a:solidFill>
                <a:latin typeface="Aptos"/>
              </a:defRPr>
            </a:pPr>
            <a:r>
              <a:t>• Repeat the cycle until the model becomes more reliable.</a:t>
            </a:r>
          </a:p>
        </p:txBody>
      </p:sp>
      <p:sp>
        <p:nvSpPr>
          <p:cNvPr id="7" name="Rounded Rectangle 6"/>
          <p:cNvSpPr/>
          <p:nvPr/>
        </p:nvSpPr>
        <p:spPr>
          <a:xfrm>
            <a:off x="7543800" y="1554480"/>
            <a:ext cx="3749039" cy="3566160"/>
          </a:xfrm>
          <a:prstGeom prst="roundRect">
            <a:avLst/>
          </a:prstGeom>
          <a:solidFill>
            <a:srgbClr val="E8F0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4968" y="1719072"/>
            <a:ext cx="3346703" cy="411480"/>
          </a:xfrm>
          <a:prstGeom prst="rect">
            <a:avLst/>
          </a:prstGeom>
          <a:noFill/>
        </p:spPr>
        <p:txBody>
          <a:bodyPr wrap="none">
            <a:spAutoFit/>
          </a:bodyPr>
          <a:lstStyle/>
          <a:p>
            <a:pPr>
              <a:defRPr sz="1600" b="1">
                <a:solidFill>
                  <a:srgbClr val="17365D"/>
                </a:solidFill>
                <a:latin typeface="Aptos Display"/>
              </a:defRPr>
            </a:pPr>
            <a:r>
              <a:t>Key Insight</a:t>
            </a:r>
          </a:p>
        </p:txBody>
      </p:sp>
      <p:sp>
        <p:nvSpPr>
          <p:cNvPr id="9" name="TextBox 8"/>
          <p:cNvSpPr txBox="1"/>
          <p:nvPr/>
        </p:nvSpPr>
        <p:spPr>
          <a:xfrm>
            <a:off x="7744968" y="2212848"/>
            <a:ext cx="3346703" cy="2743200"/>
          </a:xfrm>
          <a:prstGeom prst="rect">
            <a:avLst/>
          </a:prstGeom>
          <a:noFill/>
        </p:spPr>
        <p:txBody>
          <a:bodyPr wrap="none">
            <a:spAutoFit/>
          </a:bodyPr>
          <a:lstStyle/>
          <a:p>
            <a:pPr>
              <a:spcAft>
                <a:spcPts val="400"/>
              </a:spcAft>
              <a:defRPr sz="1250">
                <a:solidFill>
                  <a:srgbClr val="232323"/>
                </a:solidFill>
                <a:latin typeface="Aptos"/>
              </a:defRPr>
            </a:pPr>
            <a:r>
              <a:t>A model does not simply “memorize” the task. It learns statistical patterns from the examples it receives.</a:t>
            </a:r>
            <a:br/>
            <a:br/>
            <a:r>
              <a:t>Better variety and representative data generally improve its ability to handle new inputs.</a:t>
            </a:r>
          </a:p>
        </p:txBody>
      </p:sp>
      <p:sp>
        <p:nvSpPr>
          <p:cNvPr id="10" name="TextBox 9"/>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Example: Recommendation Systems</a:t>
            </a:r>
          </a:p>
        </p:txBody>
      </p:sp>
      <p:sp>
        <p:nvSpPr>
          <p:cNvPr id="5" name="TextBox 4"/>
          <p:cNvSpPr txBox="1"/>
          <p:nvPr/>
        </p:nvSpPr>
        <p:spPr>
          <a:xfrm>
            <a:off x="621792" y="987552"/>
            <a:ext cx="10789920" cy="365760"/>
          </a:xfrm>
          <a:prstGeom prst="rect">
            <a:avLst/>
          </a:prstGeom>
          <a:noFill/>
        </p:spPr>
        <p:txBody>
          <a:bodyPr wrap="none">
            <a:spAutoFit/>
          </a:bodyPr>
          <a:lstStyle/>
          <a:p>
            <a:pPr>
              <a:defRPr sz="1100">
                <a:solidFill>
                  <a:srgbClr val="646464"/>
                </a:solidFill>
                <a:latin typeface="Aptos"/>
              </a:defRPr>
            </a:pPr>
            <a:r>
              <a:t>How machine learning can turn user behaviour into useful suggestions</a:t>
            </a:r>
          </a:p>
        </p:txBody>
      </p:sp>
      <p:sp>
        <p:nvSpPr>
          <p:cNvPr id="6" name="Rounded Rectangle 5"/>
          <p:cNvSpPr/>
          <p:nvPr/>
        </p:nvSpPr>
        <p:spPr>
          <a:xfrm>
            <a:off x="731520" y="1554480"/>
            <a:ext cx="3291840" cy="347472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719072"/>
            <a:ext cx="2889504" cy="411480"/>
          </a:xfrm>
          <a:prstGeom prst="rect">
            <a:avLst/>
          </a:prstGeom>
          <a:noFill/>
        </p:spPr>
        <p:txBody>
          <a:bodyPr wrap="none">
            <a:spAutoFit/>
          </a:bodyPr>
          <a:lstStyle/>
          <a:p>
            <a:pPr>
              <a:defRPr sz="1600" b="1">
                <a:solidFill>
                  <a:srgbClr val="17365D"/>
                </a:solidFill>
                <a:latin typeface="Aptos Display"/>
              </a:defRPr>
            </a:pPr>
            <a:r>
              <a:t>Input Data</a:t>
            </a:r>
          </a:p>
        </p:txBody>
      </p:sp>
      <p:sp>
        <p:nvSpPr>
          <p:cNvPr id="8" name="TextBox 7"/>
          <p:cNvSpPr txBox="1"/>
          <p:nvPr/>
        </p:nvSpPr>
        <p:spPr>
          <a:xfrm>
            <a:off x="932688" y="2212848"/>
            <a:ext cx="2889504" cy="2651760"/>
          </a:xfrm>
          <a:prstGeom prst="rect">
            <a:avLst/>
          </a:prstGeom>
          <a:noFill/>
        </p:spPr>
        <p:txBody>
          <a:bodyPr wrap="none">
            <a:spAutoFit/>
          </a:bodyPr>
          <a:lstStyle/>
          <a:p>
            <a:pPr>
              <a:spcAft>
                <a:spcPts val="400"/>
              </a:spcAft>
              <a:defRPr sz="1250">
                <a:solidFill>
                  <a:srgbClr val="232323"/>
                </a:solidFill>
                <a:latin typeface="Aptos"/>
              </a:defRPr>
            </a:pPr>
            <a:r>
              <a:t>• Viewing history</a:t>
            </a:r>
            <a:br/>
            <a:r>
              <a:t>• Ratings</a:t>
            </a:r>
            <a:br/>
            <a:r>
              <a:t>• Searches</a:t>
            </a:r>
            <a:br/>
            <a:r>
              <a:t>• Clicks and interactions</a:t>
            </a:r>
            <a:br/>
            <a:r>
              <a:t>• Similar users/items</a:t>
            </a:r>
          </a:p>
        </p:txBody>
      </p:sp>
      <p:sp>
        <p:nvSpPr>
          <p:cNvPr id="9" name="Rounded Rectangle 8"/>
          <p:cNvSpPr/>
          <p:nvPr/>
        </p:nvSpPr>
        <p:spPr>
          <a:xfrm>
            <a:off x="4434840" y="1554480"/>
            <a:ext cx="3291840" cy="347472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7" y="1719072"/>
            <a:ext cx="2889504" cy="411480"/>
          </a:xfrm>
          <a:prstGeom prst="rect">
            <a:avLst/>
          </a:prstGeom>
          <a:noFill/>
        </p:spPr>
        <p:txBody>
          <a:bodyPr wrap="none">
            <a:spAutoFit/>
          </a:bodyPr>
          <a:lstStyle/>
          <a:p>
            <a:pPr>
              <a:defRPr sz="1600" b="1">
                <a:solidFill>
                  <a:srgbClr val="17365D"/>
                </a:solidFill>
                <a:latin typeface="Aptos Display"/>
              </a:defRPr>
            </a:pPr>
            <a:r>
              <a:t>Learning Process</a:t>
            </a:r>
          </a:p>
        </p:txBody>
      </p:sp>
      <p:sp>
        <p:nvSpPr>
          <p:cNvPr id="11" name="TextBox 10"/>
          <p:cNvSpPr txBox="1"/>
          <p:nvPr/>
        </p:nvSpPr>
        <p:spPr>
          <a:xfrm>
            <a:off x="4636007" y="2212848"/>
            <a:ext cx="2889504" cy="2651760"/>
          </a:xfrm>
          <a:prstGeom prst="rect">
            <a:avLst/>
          </a:prstGeom>
          <a:noFill/>
        </p:spPr>
        <p:txBody>
          <a:bodyPr wrap="none">
            <a:spAutoFit/>
          </a:bodyPr>
          <a:lstStyle/>
          <a:p>
            <a:pPr>
              <a:spcAft>
                <a:spcPts val="400"/>
              </a:spcAft>
              <a:defRPr sz="1250">
                <a:solidFill>
                  <a:srgbClr val="232323"/>
                </a:solidFill>
                <a:latin typeface="Aptos"/>
              </a:defRPr>
            </a:pPr>
            <a:r>
              <a:t>The system identifies patterns and relationships between users, items, and preferences.</a:t>
            </a:r>
            <a:br/>
            <a:br/>
            <a:r>
              <a:t>It continuously updates its understanding as new interactions appear.</a:t>
            </a:r>
          </a:p>
        </p:txBody>
      </p:sp>
      <p:sp>
        <p:nvSpPr>
          <p:cNvPr id="12" name="Rounded Rectangle 11"/>
          <p:cNvSpPr/>
          <p:nvPr/>
        </p:nvSpPr>
        <p:spPr>
          <a:xfrm>
            <a:off x="8138160" y="1554480"/>
            <a:ext cx="3291840" cy="347472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8" y="1719072"/>
            <a:ext cx="2889504" cy="411480"/>
          </a:xfrm>
          <a:prstGeom prst="rect">
            <a:avLst/>
          </a:prstGeom>
          <a:noFill/>
        </p:spPr>
        <p:txBody>
          <a:bodyPr wrap="none">
            <a:spAutoFit/>
          </a:bodyPr>
          <a:lstStyle/>
          <a:p>
            <a:pPr>
              <a:defRPr sz="1600" b="1">
                <a:solidFill>
                  <a:srgbClr val="17365D"/>
                </a:solidFill>
                <a:latin typeface="Aptos Display"/>
              </a:defRPr>
            </a:pPr>
            <a:r>
              <a:t>Output</a:t>
            </a:r>
          </a:p>
        </p:txBody>
      </p:sp>
      <p:sp>
        <p:nvSpPr>
          <p:cNvPr id="14" name="TextBox 13"/>
          <p:cNvSpPr txBox="1"/>
          <p:nvPr/>
        </p:nvSpPr>
        <p:spPr>
          <a:xfrm>
            <a:off x="8339328" y="2212848"/>
            <a:ext cx="2889504" cy="2651760"/>
          </a:xfrm>
          <a:prstGeom prst="rect">
            <a:avLst/>
          </a:prstGeom>
          <a:noFill/>
        </p:spPr>
        <p:txBody>
          <a:bodyPr wrap="none">
            <a:spAutoFit/>
          </a:bodyPr>
          <a:lstStyle/>
          <a:p>
            <a:pPr>
              <a:spcAft>
                <a:spcPts val="400"/>
              </a:spcAft>
              <a:defRPr sz="1250">
                <a:solidFill>
                  <a:srgbClr val="232323"/>
                </a:solidFill>
                <a:latin typeface="Aptos"/>
              </a:defRPr>
            </a:pPr>
            <a:r>
              <a:t>Personalized recommendations that estimate which items are most likely to be relevant to the user.</a:t>
            </a:r>
          </a:p>
        </p:txBody>
      </p:sp>
      <p:sp>
        <p:nvSpPr>
          <p:cNvPr id="15" name="TextBox 14"/>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Real-World AI/ML Applications</a:t>
            </a:r>
          </a:p>
        </p:txBody>
      </p:sp>
      <p:sp>
        <p:nvSpPr>
          <p:cNvPr id="5" name="Rounded Rectangle 4"/>
          <p:cNvSpPr/>
          <p:nvPr/>
        </p:nvSpPr>
        <p:spPr>
          <a:xfrm>
            <a:off x="640080" y="1417320"/>
            <a:ext cx="3429000" cy="19202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581912"/>
            <a:ext cx="3026664" cy="411480"/>
          </a:xfrm>
          <a:prstGeom prst="rect">
            <a:avLst/>
          </a:prstGeom>
          <a:noFill/>
        </p:spPr>
        <p:txBody>
          <a:bodyPr wrap="none">
            <a:spAutoFit/>
          </a:bodyPr>
          <a:lstStyle/>
          <a:p>
            <a:pPr>
              <a:defRPr sz="1600" b="1">
                <a:solidFill>
                  <a:srgbClr val="17365D"/>
                </a:solidFill>
                <a:latin typeface="Aptos Display"/>
              </a:defRPr>
            </a:pPr>
            <a:r>
              <a:t>Agriculture</a:t>
            </a:r>
          </a:p>
        </p:txBody>
      </p:sp>
      <p:sp>
        <p:nvSpPr>
          <p:cNvPr id="7" name="TextBox 6"/>
          <p:cNvSpPr txBox="1"/>
          <p:nvPr/>
        </p:nvSpPr>
        <p:spPr>
          <a:xfrm>
            <a:off x="841247" y="2075688"/>
            <a:ext cx="3026664" cy="1097280"/>
          </a:xfrm>
          <a:prstGeom prst="rect">
            <a:avLst/>
          </a:prstGeom>
          <a:noFill/>
        </p:spPr>
        <p:txBody>
          <a:bodyPr wrap="none">
            <a:spAutoFit/>
          </a:bodyPr>
          <a:lstStyle/>
          <a:p>
            <a:pPr>
              <a:spcAft>
                <a:spcPts val="400"/>
              </a:spcAft>
              <a:defRPr sz="1250">
                <a:solidFill>
                  <a:srgbClr val="232323"/>
                </a:solidFill>
                <a:latin typeface="Aptos"/>
              </a:defRPr>
            </a:pPr>
            <a:r>
              <a:t>Crop disease detection and yield-related decision support.</a:t>
            </a:r>
          </a:p>
        </p:txBody>
      </p:sp>
      <p:sp>
        <p:nvSpPr>
          <p:cNvPr id="8" name="Rounded Rectangle 7"/>
          <p:cNvSpPr/>
          <p:nvPr/>
        </p:nvSpPr>
        <p:spPr>
          <a:xfrm>
            <a:off x="4434840" y="1417320"/>
            <a:ext cx="3429000" cy="19202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8" y="1581912"/>
            <a:ext cx="3026664" cy="411480"/>
          </a:xfrm>
          <a:prstGeom prst="rect">
            <a:avLst/>
          </a:prstGeom>
          <a:noFill/>
        </p:spPr>
        <p:txBody>
          <a:bodyPr wrap="none">
            <a:spAutoFit/>
          </a:bodyPr>
          <a:lstStyle/>
          <a:p>
            <a:pPr>
              <a:defRPr sz="1600" b="1">
                <a:solidFill>
                  <a:srgbClr val="17365D"/>
                </a:solidFill>
                <a:latin typeface="Aptos Display"/>
              </a:defRPr>
            </a:pPr>
            <a:r>
              <a:t>Healthcare</a:t>
            </a:r>
          </a:p>
        </p:txBody>
      </p:sp>
      <p:sp>
        <p:nvSpPr>
          <p:cNvPr id="10" name="TextBox 9"/>
          <p:cNvSpPr txBox="1"/>
          <p:nvPr/>
        </p:nvSpPr>
        <p:spPr>
          <a:xfrm>
            <a:off x="4636008" y="2075688"/>
            <a:ext cx="3026664" cy="1097280"/>
          </a:xfrm>
          <a:prstGeom prst="rect">
            <a:avLst/>
          </a:prstGeom>
          <a:noFill/>
        </p:spPr>
        <p:txBody>
          <a:bodyPr wrap="none">
            <a:spAutoFit/>
          </a:bodyPr>
          <a:lstStyle/>
          <a:p>
            <a:pPr>
              <a:spcAft>
                <a:spcPts val="400"/>
              </a:spcAft>
              <a:defRPr sz="1250">
                <a:solidFill>
                  <a:srgbClr val="232323"/>
                </a:solidFill>
                <a:latin typeface="Aptos"/>
              </a:defRPr>
            </a:pPr>
            <a:r>
              <a:t>Pattern detection and risk estimation to support professionals.</a:t>
            </a:r>
          </a:p>
        </p:txBody>
      </p:sp>
      <p:sp>
        <p:nvSpPr>
          <p:cNvPr id="11" name="Rounded Rectangle 10"/>
          <p:cNvSpPr/>
          <p:nvPr/>
        </p:nvSpPr>
        <p:spPr>
          <a:xfrm>
            <a:off x="8229600" y="1417320"/>
            <a:ext cx="3429000" cy="19202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1581912"/>
            <a:ext cx="3026664" cy="411480"/>
          </a:xfrm>
          <a:prstGeom prst="rect">
            <a:avLst/>
          </a:prstGeom>
          <a:noFill/>
        </p:spPr>
        <p:txBody>
          <a:bodyPr wrap="none">
            <a:spAutoFit/>
          </a:bodyPr>
          <a:lstStyle/>
          <a:p>
            <a:pPr>
              <a:defRPr sz="1600" b="1">
                <a:solidFill>
                  <a:srgbClr val="17365D"/>
                </a:solidFill>
                <a:latin typeface="Aptos Display"/>
              </a:defRPr>
            </a:pPr>
            <a:r>
              <a:t>Education</a:t>
            </a:r>
          </a:p>
        </p:txBody>
      </p:sp>
      <p:sp>
        <p:nvSpPr>
          <p:cNvPr id="13" name="TextBox 12"/>
          <p:cNvSpPr txBox="1"/>
          <p:nvPr/>
        </p:nvSpPr>
        <p:spPr>
          <a:xfrm>
            <a:off x="8430768" y="2075688"/>
            <a:ext cx="3026664" cy="1097280"/>
          </a:xfrm>
          <a:prstGeom prst="rect">
            <a:avLst/>
          </a:prstGeom>
          <a:noFill/>
        </p:spPr>
        <p:txBody>
          <a:bodyPr wrap="none">
            <a:spAutoFit/>
          </a:bodyPr>
          <a:lstStyle/>
          <a:p>
            <a:pPr>
              <a:spcAft>
                <a:spcPts val="400"/>
              </a:spcAft>
              <a:defRPr sz="1250">
                <a:solidFill>
                  <a:srgbClr val="232323"/>
                </a:solidFill>
                <a:latin typeface="Aptos"/>
              </a:defRPr>
            </a:pPr>
            <a:r>
              <a:t>Personalized learning paths and identification of learning gaps.</a:t>
            </a:r>
          </a:p>
        </p:txBody>
      </p:sp>
      <p:sp>
        <p:nvSpPr>
          <p:cNvPr id="14" name="Rounded Rectangle 13"/>
          <p:cNvSpPr/>
          <p:nvPr/>
        </p:nvSpPr>
        <p:spPr>
          <a:xfrm>
            <a:off x="640080" y="3749039"/>
            <a:ext cx="3429000" cy="19202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3913631"/>
            <a:ext cx="3026664" cy="411480"/>
          </a:xfrm>
          <a:prstGeom prst="rect">
            <a:avLst/>
          </a:prstGeom>
          <a:noFill/>
        </p:spPr>
        <p:txBody>
          <a:bodyPr wrap="none">
            <a:spAutoFit/>
          </a:bodyPr>
          <a:lstStyle/>
          <a:p>
            <a:pPr>
              <a:defRPr sz="1600" b="1">
                <a:solidFill>
                  <a:srgbClr val="17365D"/>
                </a:solidFill>
                <a:latin typeface="Aptos Display"/>
              </a:defRPr>
            </a:pPr>
            <a:r>
              <a:t>Transportation</a:t>
            </a:r>
          </a:p>
        </p:txBody>
      </p:sp>
      <p:sp>
        <p:nvSpPr>
          <p:cNvPr id="16" name="TextBox 15"/>
          <p:cNvSpPr txBox="1"/>
          <p:nvPr/>
        </p:nvSpPr>
        <p:spPr>
          <a:xfrm>
            <a:off x="841247" y="4407407"/>
            <a:ext cx="3026664" cy="1097280"/>
          </a:xfrm>
          <a:prstGeom prst="rect">
            <a:avLst/>
          </a:prstGeom>
          <a:noFill/>
        </p:spPr>
        <p:txBody>
          <a:bodyPr wrap="none">
            <a:spAutoFit/>
          </a:bodyPr>
          <a:lstStyle/>
          <a:p>
            <a:pPr>
              <a:spcAft>
                <a:spcPts val="400"/>
              </a:spcAft>
              <a:defRPr sz="1250">
                <a:solidFill>
                  <a:srgbClr val="232323"/>
                </a:solidFill>
                <a:latin typeface="Aptos"/>
              </a:defRPr>
            </a:pPr>
            <a:r>
              <a:t>Traffic prediction, travel-time estimation, and route optimization.</a:t>
            </a:r>
          </a:p>
        </p:txBody>
      </p:sp>
      <p:sp>
        <p:nvSpPr>
          <p:cNvPr id="17" name="Rounded Rectangle 16"/>
          <p:cNvSpPr/>
          <p:nvPr/>
        </p:nvSpPr>
        <p:spPr>
          <a:xfrm>
            <a:off x="4434840" y="3749039"/>
            <a:ext cx="3429000" cy="19202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3913631"/>
            <a:ext cx="3026664" cy="411480"/>
          </a:xfrm>
          <a:prstGeom prst="rect">
            <a:avLst/>
          </a:prstGeom>
          <a:noFill/>
        </p:spPr>
        <p:txBody>
          <a:bodyPr wrap="none">
            <a:spAutoFit/>
          </a:bodyPr>
          <a:lstStyle/>
          <a:p>
            <a:pPr>
              <a:defRPr sz="1600" b="1">
                <a:solidFill>
                  <a:srgbClr val="17365D"/>
                </a:solidFill>
                <a:latin typeface="Aptos Display"/>
              </a:defRPr>
            </a:pPr>
            <a:r>
              <a:t>Environment</a:t>
            </a:r>
          </a:p>
        </p:txBody>
      </p:sp>
      <p:sp>
        <p:nvSpPr>
          <p:cNvPr id="19" name="TextBox 18"/>
          <p:cNvSpPr txBox="1"/>
          <p:nvPr/>
        </p:nvSpPr>
        <p:spPr>
          <a:xfrm>
            <a:off x="4636008" y="4407407"/>
            <a:ext cx="3026664" cy="1097280"/>
          </a:xfrm>
          <a:prstGeom prst="rect">
            <a:avLst/>
          </a:prstGeom>
          <a:noFill/>
        </p:spPr>
        <p:txBody>
          <a:bodyPr wrap="none">
            <a:spAutoFit/>
          </a:bodyPr>
          <a:lstStyle/>
          <a:p>
            <a:pPr>
              <a:spcAft>
                <a:spcPts val="400"/>
              </a:spcAft>
              <a:defRPr sz="1250">
                <a:solidFill>
                  <a:srgbClr val="232323"/>
                </a:solidFill>
                <a:latin typeface="Aptos"/>
              </a:defRPr>
            </a:pPr>
            <a:r>
              <a:t>Air-quality forecasting and analysis of sensor or satellite data.</a:t>
            </a:r>
          </a:p>
        </p:txBody>
      </p:sp>
      <p:sp>
        <p:nvSpPr>
          <p:cNvPr id="20" name="Rounded Rectangle 19"/>
          <p:cNvSpPr/>
          <p:nvPr/>
        </p:nvSpPr>
        <p:spPr>
          <a:xfrm>
            <a:off x="8229600" y="3749039"/>
            <a:ext cx="3429000" cy="192024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3913631"/>
            <a:ext cx="3026664" cy="411480"/>
          </a:xfrm>
          <a:prstGeom prst="rect">
            <a:avLst/>
          </a:prstGeom>
          <a:noFill/>
        </p:spPr>
        <p:txBody>
          <a:bodyPr wrap="none">
            <a:spAutoFit/>
          </a:bodyPr>
          <a:lstStyle/>
          <a:p>
            <a:pPr>
              <a:defRPr sz="1600" b="1">
                <a:solidFill>
                  <a:srgbClr val="17365D"/>
                </a:solidFill>
                <a:latin typeface="Aptos Display"/>
              </a:defRPr>
            </a:pPr>
            <a:r>
              <a:t>Business</a:t>
            </a:r>
          </a:p>
        </p:txBody>
      </p:sp>
      <p:sp>
        <p:nvSpPr>
          <p:cNvPr id="22" name="TextBox 21"/>
          <p:cNvSpPr txBox="1"/>
          <p:nvPr/>
        </p:nvSpPr>
        <p:spPr>
          <a:xfrm>
            <a:off x="8430768" y="4407407"/>
            <a:ext cx="3026664" cy="1097280"/>
          </a:xfrm>
          <a:prstGeom prst="rect">
            <a:avLst/>
          </a:prstGeom>
          <a:noFill/>
        </p:spPr>
        <p:txBody>
          <a:bodyPr wrap="none">
            <a:spAutoFit/>
          </a:bodyPr>
          <a:lstStyle/>
          <a:p>
            <a:pPr>
              <a:spcAft>
                <a:spcPts val="400"/>
              </a:spcAft>
              <a:defRPr sz="1250">
                <a:solidFill>
                  <a:srgbClr val="232323"/>
                </a:solidFill>
                <a:latin typeface="Aptos"/>
              </a:defRPr>
            </a:pPr>
            <a:r>
              <a:t>Demand forecasting, customer segmentation, and recommendation systems.</a:t>
            </a:r>
          </a:p>
        </p:txBody>
      </p:sp>
      <p:sp>
        <p:nvSpPr>
          <p:cNvPr id="23" name="TextBox 22"/>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Problem → AI/ML Solution → Impact</a:t>
            </a:r>
          </a:p>
        </p:txBody>
      </p:sp>
      <p:graphicFrame>
        <p:nvGraphicFramePr>
          <p:cNvPr id="5" name="Table 4"/>
          <p:cNvGraphicFramePr>
            <a:graphicFrameLocks noGrp="1"/>
          </p:cNvGraphicFramePr>
          <p:nvPr/>
        </p:nvGraphicFramePr>
        <p:xfrm>
          <a:off x="640080" y="1417320"/>
          <a:ext cx="10927080" cy="4389120"/>
        </p:xfrm>
        <a:graphic>
          <a:graphicData uri="http://schemas.openxmlformats.org/drawingml/2006/table">
            <a:tbl>
              <a:tblPr firstRow="1" bandRow="1">
                <a:tableStyleId>{5C22544A-7EE6-4342-B048-85BDC9FD1C3A}</a:tableStyleId>
              </a:tblPr>
              <a:tblGrid>
                <a:gridCol w="3200400"/>
                <a:gridCol w="4572000"/>
                <a:gridCol w="3154680"/>
              </a:tblGrid>
              <a:tr h="731520">
                <a:tc>
                  <a:txBody>
                    <a:bodyPr/>
                    <a:lstStyle/>
                    <a:p>
                      <a:pPr>
                        <a:defRPr sz="1200" b="1">
                          <a:solidFill>
                            <a:srgbClr val="FFFFFF"/>
                          </a:solidFill>
                          <a:latin typeface="Aptos"/>
                        </a:defRPr>
                      </a:pPr>
                      <a:r>
                        <a:t>Problem</a:t>
                      </a:r>
                    </a:p>
                  </a:txBody>
                  <a:tcPr marL="73152" marR="73152" marT="54864" marB="54864">
                    <a:solidFill>
                      <a:srgbClr val="17365D"/>
                    </a:solidFill>
                  </a:tcPr>
                </a:tc>
                <a:tc>
                  <a:txBody>
                    <a:bodyPr/>
                    <a:lstStyle/>
                    <a:p>
                      <a:pPr>
                        <a:defRPr sz="1200" b="1">
                          <a:solidFill>
                            <a:srgbClr val="FFFFFF"/>
                          </a:solidFill>
                          <a:latin typeface="Aptos"/>
                        </a:defRPr>
                      </a:pPr>
                      <a:r>
                        <a:t>AI/ML approach</a:t>
                      </a:r>
                    </a:p>
                  </a:txBody>
                  <a:tcPr marL="73152" marR="73152" marT="54864" marB="54864">
                    <a:solidFill>
                      <a:srgbClr val="17365D"/>
                    </a:solidFill>
                  </a:tcPr>
                </a:tc>
                <a:tc>
                  <a:txBody>
                    <a:bodyPr/>
                    <a:lstStyle/>
                    <a:p>
                      <a:pPr>
                        <a:defRPr sz="1200" b="1">
                          <a:solidFill>
                            <a:srgbClr val="FFFFFF"/>
                          </a:solidFill>
                          <a:latin typeface="Aptos"/>
                        </a:defRPr>
                      </a:pPr>
                      <a:r>
                        <a:t>Potential impact</a:t>
                      </a:r>
                    </a:p>
                  </a:txBody>
                  <a:tcPr marL="73152" marR="73152" marT="54864" marB="54864">
                    <a:solidFill>
                      <a:srgbClr val="17365D"/>
                    </a:solidFill>
                  </a:tcPr>
                </a:tc>
              </a:tr>
              <a:tr h="731520">
                <a:tc>
                  <a:txBody>
                    <a:bodyPr/>
                    <a:lstStyle/>
                    <a:p>
                      <a:pPr>
                        <a:defRPr sz="1100" b="0">
                          <a:solidFill>
                            <a:srgbClr val="232323"/>
                          </a:solidFill>
                          <a:latin typeface="Aptos"/>
                        </a:defRPr>
                      </a:pPr>
                      <a:r>
                        <a:t>Late crop disease detection</a:t>
                      </a:r>
                    </a:p>
                  </a:txBody>
                  <a:tcPr marL="73152" marR="73152" marT="54864" marB="54864">
                    <a:solidFill>
                      <a:srgbClr val="F0F4FA"/>
                    </a:solidFill>
                  </a:tcPr>
                </a:tc>
                <a:tc>
                  <a:txBody>
                    <a:bodyPr/>
                    <a:lstStyle/>
                    <a:p>
                      <a:pPr>
                        <a:defRPr sz="1100" b="0">
                          <a:solidFill>
                            <a:srgbClr val="232323"/>
                          </a:solidFill>
                          <a:latin typeface="Aptos"/>
                        </a:defRPr>
                      </a:pPr>
                      <a:r>
                        <a:t>Image classification</a:t>
                      </a:r>
                    </a:p>
                  </a:txBody>
                  <a:tcPr marL="73152" marR="73152" marT="54864" marB="54864">
                    <a:solidFill>
                      <a:srgbClr val="F0F4FA"/>
                    </a:solidFill>
                  </a:tcPr>
                </a:tc>
                <a:tc>
                  <a:txBody>
                    <a:bodyPr/>
                    <a:lstStyle/>
                    <a:p>
                      <a:pPr>
                        <a:defRPr sz="1100" b="0">
                          <a:solidFill>
                            <a:srgbClr val="232323"/>
                          </a:solidFill>
                          <a:latin typeface="Aptos"/>
                        </a:defRPr>
                      </a:pPr>
                      <a:r>
                        <a:t>Earlier intervention</a:t>
                      </a:r>
                    </a:p>
                  </a:txBody>
                  <a:tcPr marL="73152" marR="73152" marT="54864" marB="54864">
                    <a:solidFill>
                      <a:srgbClr val="F0F4FA"/>
                    </a:solidFill>
                  </a:tcPr>
                </a:tc>
              </a:tr>
              <a:tr h="731520">
                <a:tc>
                  <a:txBody>
                    <a:bodyPr/>
                    <a:lstStyle/>
                    <a:p>
                      <a:pPr>
                        <a:defRPr sz="1100" b="0">
                          <a:solidFill>
                            <a:srgbClr val="232323"/>
                          </a:solidFill>
                          <a:latin typeface="Aptos"/>
                        </a:defRPr>
                      </a:pPr>
                      <a:r>
                        <a:t>High traffic congestion</a:t>
                      </a:r>
                    </a:p>
                  </a:txBody>
                  <a:tcPr marL="73152" marR="73152" marT="54864" marB="54864">
                    <a:solidFill>
                      <a:srgbClr val="FFFFFF"/>
                    </a:solidFill>
                  </a:tcPr>
                </a:tc>
                <a:tc>
                  <a:txBody>
                    <a:bodyPr/>
                    <a:lstStyle/>
                    <a:p>
                      <a:pPr>
                        <a:defRPr sz="1100" b="0">
                          <a:solidFill>
                            <a:srgbClr val="232323"/>
                          </a:solidFill>
                          <a:latin typeface="Aptos"/>
                        </a:defRPr>
                      </a:pPr>
                      <a:r>
                        <a:t>Traffic forecasting</a:t>
                      </a:r>
                    </a:p>
                  </a:txBody>
                  <a:tcPr marL="73152" marR="73152" marT="54864" marB="54864">
                    <a:solidFill>
                      <a:srgbClr val="FFFFFF"/>
                    </a:solidFill>
                  </a:tcPr>
                </a:tc>
                <a:tc>
                  <a:txBody>
                    <a:bodyPr/>
                    <a:lstStyle/>
                    <a:p>
                      <a:pPr>
                        <a:defRPr sz="1100" b="0">
                          <a:solidFill>
                            <a:srgbClr val="232323"/>
                          </a:solidFill>
                          <a:latin typeface="Aptos"/>
                        </a:defRPr>
                      </a:pPr>
                      <a:r>
                        <a:t>Better routing and flow</a:t>
                      </a:r>
                    </a:p>
                  </a:txBody>
                  <a:tcPr marL="73152" marR="73152" marT="54864" marB="54864">
                    <a:solidFill>
                      <a:srgbClr val="FFFFFF"/>
                    </a:solidFill>
                  </a:tcPr>
                </a:tc>
              </a:tr>
              <a:tr h="731520">
                <a:tc>
                  <a:txBody>
                    <a:bodyPr/>
                    <a:lstStyle/>
                    <a:p>
                      <a:pPr>
                        <a:defRPr sz="1100" b="0">
                          <a:solidFill>
                            <a:srgbClr val="232323"/>
                          </a:solidFill>
                          <a:latin typeface="Aptos"/>
                        </a:defRPr>
                      </a:pPr>
                      <a:r>
                        <a:t>Different student needs</a:t>
                      </a:r>
                    </a:p>
                  </a:txBody>
                  <a:tcPr marL="73152" marR="73152" marT="54864" marB="54864">
                    <a:solidFill>
                      <a:srgbClr val="F0F4FA"/>
                    </a:solidFill>
                  </a:tcPr>
                </a:tc>
                <a:tc>
                  <a:txBody>
                    <a:bodyPr/>
                    <a:lstStyle/>
                    <a:p>
                      <a:pPr>
                        <a:defRPr sz="1100" b="0">
                          <a:solidFill>
                            <a:srgbClr val="232323"/>
                          </a:solidFill>
                          <a:latin typeface="Aptos"/>
                        </a:defRPr>
                      </a:pPr>
                      <a:r>
                        <a:t>Learning recommendation</a:t>
                      </a:r>
                    </a:p>
                  </a:txBody>
                  <a:tcPr marL="73152" marR="73152" marT="54864" marB="54864">
                    <a:solidFill>
                      <a:srgbClr val="F0F4FA"/>
                    </a:solidFill>
                  </a:tcPr>
                </a:tc>
                <a:tc>
                  <a:txBody>
                    <a:bodyPr/>
                    <a:lstStyle/>
                    <a:p>
                      <a:pPr>
                        <a:defRPr sz="1100" b="0">
                          <a:solidFill>
                            <a:srgbClr val="232323"/>
                          </a:solidFill>
                          <a:latin typeface="Aptos"/>
                        </a:defRPr>
                      </a:pPr>
                      <a:r>
                        <a:t>Personalized support</a:t>
                      </a:r>
                    </a:p>
                  </a:txBody>
                  <a:tcPr marL="73152" marR="73152" marT="54864" marB="54864">
                    <a:solidFill>
                      <a:srgbClr val="F0F4FA"/>
                    </a:solidFill>
                  </a:tcPr>
                </a:tc>
              </a:tr>
              <a:tr h="731520">
                <a:tc>
                  <a:txBody>
                    <a:bodyPr/>
                    <a:lstStyle/>
                    <a:p>
                      <a:pPr>
                        <a:defRPr sz="1100" b="0">
                          <a:solidFill>
                            <a:srgbClr val="232323"/>
                          </a:solidFill>
                          <a:latin typeface="Aptos"/>
                        </a:defRPr>
                      </a:pPr>
                      <a:r>
                        <a:t>Complex medical data</a:t>
                      </a:r>
                    </a:p>
                  </a:txBody>
                  <a:tcPr marL="73152" marR="73152" marT="54864" marB="54864">
                    <a:solidFill>
                      <a:srgbClr val="FFFFFF"/>
                    </a:solidFill>
                  </a:tcPr>
                </a:tc>
                <a:tc>
                  <a:txBody>
                    <a:bodyPr/>
                    <a:lstStyle/>
                    <a:p>
                      <a:pPr>
                        <a:defRPr sz="1100" b="0">
                          <a:solidFill>
                            <a:srgbClr val="232323"/>
                          </a:solidFill>
                          <a:latin typeface="Aptos"/>
                        </a:defRPr>
                      </a:pPr>
                      <a:r>
                        <a:t>Pattern/risk analysis</a:t>
                      </a:r>
                    </a:p>
                  </a:txBody>
                  <a:tcPr marL="73152" marR="73152" marT="54864" marB="54864">
                    <a:solidFill>
                      <a:srgbClr val="FFFFFF"/>
                    </a:solidFill>
                  </a:tcPr>
                </a:tc>
                <a:tc>
                  <a:txBody>
                    <a:bodyPr/>
                    <a:lstStyle/>
                    <a:p>
                      <a:pPr>
                        <a:defRPr sz="1100" b="0">
                          <a:solidFill>
                            <a:srgbClr val="232323"/>
                          </a:solidFill>
                          <a:latin typeface="Aptos"/>
                        </a:defRPr>
                      </a:pPr>
                      <a:r>
                        <a:t>Decision support</a:t>
                      </a:r>
                    </a:p>
                  </a:txBody>
                  <a:tcPr marL="73152" marR="73152" marT="54864" marB="54864">
                    <a:solidFill>
                      <a:srgbClr val="FFFFFF"/>
                    </a:solidFill>
                  </a:tcPr>
                </a:tc>
              </a:tr>
              <a:tr h="731520">
                <a:tc>
                  <a:txBody>
                    <a:bodyPr/>
                    <a:lstStyle/>
                    <a:p>
                      <a:pPr>
                        <a:defRPr sz="1100" b="0">
                          <a:solidFill>
                            <a:srgbClr val="232323"/>
                          </a:solidFill>
                          <a:latin typeface="Aptos"/>
                        </a:defRPr>
                      </a:pPr>
                      <a:r>
                        <a:t>Changing pollution levels</a:t>
                      </a:r>
                    </a:p>
                  </a:txBody>
                  <a:tcPr marL="73152" marR="73152" marT="54864" marB="54864">
                    <a:solidFill>
                      <a:srgbClr val="F0F4FA"/>
                    </a:solidFill>
                  </a:tcPr>
                </a:tc>
                <a:tc>
                  <a:txBody>
                    <a:bodyPr/>
                    <a:lstStyle/>
                    <a:p>
                      <a:pPr>
                        <a:defRPr sz="1100" b="0">
                          <a:solidFill>
                            <a:srgbClr val="232323"/>
                          </a:solidFill>
                          <a:latin typeface="Aptos"/>
                        </a:defRPr>
                      </a:pPr>
                      <a:r>
                        <a:t>Time-series forecasting</a:t>
                      </a:r>
                    </a:p>
                  </a:txBody>
                  <a:tcPr marL="73152" marR="73152" marT="54864" marB="54864">
                    <a:solidFill>
                      <a:srgbClr val="F0F4FA"/>
                    </a:solidFill>
                  </a:tcPr>
                </a:tc>
                <a:tc>
                  <a:txBody>
                    <a:bodyPr/>
                    <a:lstStyle/>
                    <a:p>
                      <a:pPr>
                        <a:defRPr sz="1100" b="0">
                          <a:solidFill>
                            <a:srgbClr val="232323"/>
                          </a:solidFill>
                          <a:latin typeface="Aptos"/>
                        </a:defRPr>
                      </a:pPr>
                      <a:r>
                        <a:t>Earlier environmental response</a:t>
                      </a:r>
                    </a:p>
                  </a:txBody>
                  <a:tcPr marL="73152" marR="73152" marT="54864" marB="54864">
                    <a:solidFill>
                      <a:srgbClr val="F0F4FA"/>
                    </a:solidFill>
                  </a:tcPr>
                </a:tc>
              </a:tr>
            </a:tbl>
          </a:graphicData>
        </a:graphic>
      </p:graphicFrame>
      <p:sp>
        <p:nvSpPr>
          <p:cNvPr id="6" name="TextBox 5"/>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Project Methodology</a:t>
            </a:r>
          </a:p>
        </p:txBody>
      </p:sp>
      <p:sp>
        <p:nvSpPr>
          <p:cNvPr id="5" name="TextBox 4"/>
          <p:cNvSpPr txBox="1"/>
          <p:nvPr/>
        </p:nvSpPr>
        <p:spPr>
          <a:xfrm>
            <a:off x="621792" y="987552"/>
            <a:ext cx="10789920" cy="365760"/>
          </a:xfrm>
          <a:prstGeom prst="rect">
            <a:avLst/>
          </a:prstGeom>
          <a:noFill/>
        </p:spPr>
        <p:txBody>
          <a:bodyPr wrap="none">
            <a:spAutoFit/>
          </a:bodyPr>
          <a:lstStyle/>
          <a:p>
            <a:pPr>
              <a:defRPr sz="1100">
                <a:solidFill>
                  <a:srgbClr val="646464"/>
                </a:solidFill>
                <a:latin typeface="Aptos"/>
              </a:defRPr>
            </a:pPr>
            <a:r>
              <a:t>A practical problem-solving framework for ML projects</a:t>
            </a:r>
          </a:p>
        </p:txBody>
      </p:sp>
      <p:sp>
        <p:nvSpPr>
          <p:cNvPr id="6" name="Rounded Rectangle 5"/>
          <p:cNvSpPr/>
          <p:nvPr/>
        </p:nvSpPr>
        <p:spPr>
          <a:xfrm>
            <a:off x="640080" y="1325880"/>
            <a:ext cx="5166360" cy="12801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490472"/>
            <a:ext cx="4764024" cy="411480"/>
          </a:xfrm>
          <a:prstGeom prst="rect">
            <a:avLst/>
          </a:prstGeom>
          <a:noFill/>
        </p:spPr>
        <p:txBody>
          <a:bodyPr wrap="none">
            <a:spAutoFit/>
          </a:bodyPr>
          <a:lstStyle/>
          <a:p>
            <a:pPr>
              <a:defRPr sz="1600" b="1">
                <a:solidFill>
                  <a:srgbClr val="17365D"/>
                </a:solidFill>
                <a:latin typeface="Aptos Display"/>
              </a:defRPr>
            </a:pPr>
            <a:r>
              <a:t>Problem Definition</a:t>
            </a:r>
          </a:p>
        </p:txBody>
      </p:sp>
      <p:sp>
        <p:nvSpPr>
          <p:cNvPr id="8" name="TextBox 7"/>
          <p:cNvSpPr txBox="1"/>
          <p:nvPr/>
        </p:nvSpPr>
        <p:spPr>
          <a:xfrm>
            <a:off x="841247" y="1984248"/>
            <a:ext cx="4764024" cy="457199"/>
          </a:xfrm>
          <a:prstGeom prst="rect">
            <a:avLst/>
          </a:prstGeom>
          <a:noFill/>
        </p:spPr>
        <p:txBody>
          <a:bodyPr wrap="none">
            <a:spAutoFit/>
          </a:bodyPr>
          <a:lstStyle/>
          <a:p>
            <a:pPr>
              <a:spcAft>
                <a:spcPts val="400"/>
              </a:spcAft>
              <a:defRPr sz="1250">
                <a:solidFill>
                  <a:srgbClr val="232323"/>
                </a:solidFill>
                <a:latin typeface="Aptos"/>
              </a:defRPr>
            </a:pPr>
            <a:r>
              <a:t>Clarify the problem, users, desired output, and constraints.</a:t>
            </a:r>
          </a:p>
        </p:txBody>
      </p:sp>
      <p:sp>
        <p:nvSpPr>
          <p:cNvPr id="9" name="Rounded Rectangle 8"/>
          <p:cNvSpPr/>
          <p:nvPr/>
        </p:nvSpPr>
        <p:spPr>
          <a:xfrm>
            <a:off x="6263640" y="1325880"/>
            <a:ext cx="5166360" cy="12801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490472"/>
            <a:ext cx="4764024" cy="411480"/>
          </a:xfrm>
          <a:prstGeom prst="rect">
            <a:avLst/>
          </a:prstGeom>
          <a:noFill/>
        </p:spPr>
        <p:txBody>
          <a:bodyPr wrap="none">
            <a:spAutoFit/>
          </a:bodyPr>
          <a:lstStyle/>
          <a:p>
            <a:pPr>
              <a:defRPr sz="1600" b="1">
                <a:solidFill>
                  <a:srgbClr val="17365D"/>
                </a:solidFill>
                <a:latin typeface="Aptos Display"/>
              </a:defRPr>
            </a:pPr>
            <a:r>
              <a:t>Data Understanding</a:t>
            </a:r>
          </a:p>
        </p:txBody>
      </p:sp>
      <p:sp>
        <p:nvSpPr>
          <p:cNvPr id="11" name="TextBox 10"/>
          <p:cNvSpPr txBox="1"/>
          <p:nvPr/>
        </p:nvSpPr>
        <p:spPr>
          <a:xfrm>
            <a:off x="6464808" y="1984248"/>
            <a:ext cx="4764024" cy="457199"/>
          </a:xfrm>
          <a:prstGeom prst="rect">
            <a:avLst/>
          </a:prstGeom>
          <a:noFill/>
        </p:spPr>
        <p:txBody>
          <a:bodyPr wrap="none">
            <a:spAutoFit/>
          </a:bodyPr>
          <a:lstStyle/>
          <a:p>
            <a:pPr>
              <a:spcAft>
                <a:spcPts val="400"/>
              </a:spcAft>
              <a:defRPr sz="1250">
                <a:solidFill>
                  <a:srgbClr val="232323"/>
                </a:solidFill>
                <a:latin typeface="Aptos"/>
              </a:defRPr>
            </a:pPr>
            <a:r>
              <a:t>Identify available data, quality, labels, and representativeness.</a:t>
            </a:r>
          </a:p>
        </p:txBody>
      </p:sp>
      <p:sp>
        <p:nvSpPr>
          <p:cNvPr id="12" name="Rounded Rectangle 11"/>
          <p:cNvSpPr/>
          <p:nvPr/>
        </p:nvSpPr>
        <p:spPr>
          <a:xfrm>
            <a:off x="640080" y="2926080"/>
            <a:ext cx="5166360" cy="12801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3090672"/>
            <a:ext cx="4764024" cy="411480"/>
          </a:xfrm>
          <a:prstGeom prst="rect">
            <a:avLst/>
          </a:prstGeom>
          <a:noFill/>
        </p:spPr>
        <p:txBody>
          <a:bodyPr wrap="none">
            <a:spAutoFit/>
          </a:bodyPr>
          <a:lstStyle/>
          <a:p>
            <a:pPr>
              <a:defRPr sz="1600" b="1">
                <a:solidFill>
                  <a:srgbClr val="17365D"/>
                </a:solidFill>
                <a:latin typeface="Aptos Display"/>
              </a:defRPr>
            </a:pPr>
            <a:r>
              <a:t>Model Selection</a:t>
            </a:r>
          </a:p>
        </p:txBody>
      </p:sp>
      <p:sp>
        <p:nvSpPr>
          <p:cNvPr id="14" name="TextBox 13"/>
          <p:cNvSpPr txBox="1"/>
          <p:nvPr/>
        </p:nvSpPr>
        <p:spPr>
          <a:xfrm>
            <a:off x="841247" y="3584448"/>
            <a:ext cx="4764024" cy="457199"/>
          </a:xfrm>
          <a:prstGeom prst="rect">
            <a:avLst/>
          </a:prstGeom>
          <a:noFill/>
        </p:spPr>
        <p:txBody>
          <a:bodyPr wrap="none">
            <a:spAutoFit/>
          </a:bodyPr>
          <a:lstStyle/>
          <a:p>
            <a:pPr>
              <a:spcAft>
                <a:spcPts val="400"/>
              </a:spcAft>
              <a:defRPr sz="1250">
                <a:solidFill>
                  <a:srgbClr val="232323"/>
                </a:solidFill>
                <a:latin typeface="Aptos"/>
              </a:defRPr>
            </a:pPr>
            <a:r>
              <a:t>Choose classification, regression, clustering, or another suitable approach.</a:t>
            </a:r>
          </a:p>
        </p:txBody>
      </p:sp>
      <p:sp>
        <p:nvSpPr>
          <p:cNvPr id="15" name="Rounded Rectangle 14"/>
          <p:cNvSpPr/>
          <p:nvPr/>
        </p:nvSpPr>
        <p:spPr>
          <a:xfrm>
            <a:off x="6263640" y="2926080"/>
            <a:ext cx="5166360" cy="12801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3090672"/>
            <a:ext cx="4764024" cy="411480"/>
          </a:xfrm>
          <a:prstGeom prst="rect">
            <a:avLst/>
          </a:prstGeom>
          <a:noFill/>
        </p:spPr>
        <p:txBody>
          <a:bodyPr wrap="none">
            <a:spAutoFit/>
          </a:bodyPr>
          <a:lstStyle/>
          <a:p>
            <a:pPr>
              <a:defRPr sz="1600" b="1">
                <a:solidFill>
                  <a:srgbClr val="17365D"/>
                </a:solidFill>
                <a:latin typeface="Aptos Display"/>
              </a:defRPr>
            </a:pPr>
            <a:r>
              <a:t>Training &amp; Testing</a:t>
            </a:r>
          </a:p>
        </p:txBody>
      </p:sp>
      <p:sp>
        <p:nvSpPr>
          <p:cNvPr id="17" name="TextBox 16"/>
          <p:cNvSpPr txBox="1"/>
          <p:nvPr/>
        </p:nvSpPr>
        <p:spPr>
          <a:xfrm>
            <a:off x="6464808" y="3584448"/>
            <a:ext cx="4764024" cy="457199"/>
          </a:xfrm>
          <a:prstGeom prst="rect">
            <a:avLst/>
          </a:prstGeom>
          <a:noFill/>
        </p:spPr>
        <p:txBody>
          <a:bodyPr wrap="none">
            <a:spAutoFit/>
          </a:bodyPr>
          <a:lstStyle/>
          <a:p>
            <a:pPr>
              <a:spcAft>
                <a:spcPts val="400"/>
              </a:spcAft>
              <a:defRPr sz="1250">
                <a:solidFill>
                  <a:srgbClr val="232323"/>
                </a:solidFill>
                <a:latin typeface="Aptos"/>
              </a:defRPr>
            </a:pPr>
            <a:r>
              <a:t>Train on examples and evaluate with unseen data.</a:t>
            </a:r>
          </a:p>
        </p:txBody>
      </p:sp>
      <p:sp>
        <p:nvSpPr>
          <p:cNvPr id="18" name="Rounded Rectangle 17"/>
          <p:cNvSpPr/>
          <p:nvPr/>
        </p:nvSpPr>
        <p:spPr>
          <a:xfrm>
            <a:off x="640080" y="4526280"/>
            <a:ext cx="5166360" cy="12801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4690872"/>
            <a:ext cx="4764024" cy="411480"/>
          </a:xfrm>
          <a:prstGeom prst="rect">
            <a:avLst/>
          </a:prstGeom>
          <a:noFill/>
        </p:spPr>
        <p:txBody>
          <a:bodyPr wrap="none">
            <a:spAutoFit/>
          </a:bodyPr>
          <a:lstStyle/>
          <a:p>
            <a:pPr>
              <a:defRPr sz="1600" b="1">
                <a:solidFill>
                  <a:srgbClr val="17365D"/>
                </a:solidFill>
                <a:latin typeface="Aptos Display"/>
              </a:defRPr>
            </a:pPr>
            <a:r>
              <a:t>Evaluation</a:t>
            </a:r>
          </a:p>
        </p:txBody>
      </p:sp>
      <p:sp>
        <p:nvSpPr>
          <p:cNvPr id="20" name="TextBox 19"/>
          <p:cNvSpPr txBox="1"/>
          <p:nvPr/>
        </p:nvSpPr>
        <p:spPr>
          <a:xfrm>
            <a:off x="841247" y="5184648"/>
            <a:ext cx="4764024" cy="457199"/>
          </a:xfrm>
          <a:prstGeom prst="rect">
            <a:avLst/>
          </a:prstGeom>
          <a:noFill/>
        </p:spPr>
        <p:txBody>
          <a:bodyPr wrap="none">
            <a:spAutoFit/>
          </a:bodyPr>
          <a:lstStyle/>
          <a:p>
            <a:pPr>
              <a:spcAft>
                <a:spcPts val="400"/>
              </a:spcAft>
              <a:defRPr sz="1250">
                <a:solidFill>
                  <a:srgbClr val="232323"/>
                </a:solidFill>
                <a:latin typeface="Aptos"/>
              </a:defRPr>
            </a:pPr>
            <a:r>
              <a:t>Measure performance and inspect errors.</a:t>
            </a:r>
          </a:p>
        </p:txBody>
      </p:sp>
      <p:sp>
        <p:nvSpPr>
          <p:cNvPr id="21" name="Rounded Rectangle 20"/>
          <p:cNvSpPr/>
          <p:nvPr/>
        </p:nvSpPr>
        <p:spPr>
          <a:xfrm>
            <a:off x="6263640" y="4526280"/>
            <a:ext cx="5166360" cy="12801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8" y="4690872"/>
            <a:ext cx="4764024" cy="411480"/>
          </a:xfrm>
          <a:prstGeom prst="rect">
            <a:avLst/>
          </a:prstGeom>
          <a:noFill/>
        </p:spPr>
        <p:txBody>
          <a:bodyPr wrap="none">
            <a:spAutoFit/>
          </a:bodyPr>
          <a:lstStyle/>
          <a:p>
            <a:pPr>
              <a:defRPr sz="1600" b="1">
                <a:solidFill>
                  <a:srgbClr val="17365D"/>
                </a:solidFill>
                <a:latin typeface="Aptos Display"/>
              </a:defRPr>
            </a:pPr>
            <a:r>
              <a:t>Iteration &amp; Deployment</a:t>
            </a:r>
          </a:p>
        </p:txBody>
      </p:sp>
      <p:sp>
        <p:nvSpPr>
          <p:cNvPr id="23" name="TextBox 22"/>
          <p:cNvSpPr txBox="1"/>
          <p:nvPr/>
        </p:nvSpPr>
        <p:spPr>
          <a:xfrm>
            <a:off x="6464808" y="5184648"/>
            <a:ext cx="4764024" cy="457199"/>
          </a:xfrm>
          <a:prstGeom prst="rect">
            <a:avLst/>
          </a:prstGeom>
          <a:noFill/>
        </p:spPr>
        <p:txBody>
          <a:bodyPr wrap="none">
            <a:spAutoFit/>
          </a:bodyPr>
          <a:lstStyle/>
          <a:p>
            <a:pPr>
              <a:spcAft>
                <a:spcPts val="400"/>
              </a:spcAft>
              <a:defRPr sz="1250">
                <a:solidFill>
                  <a:srgbClr val="232323"/>
                </a:solidFill>
                <a:latin typeface="Aptos"/>
              </a:defRPr>
            </a:pPr>
            <a:r>
              <a:t>Improve the model and consider monitoring, safety, and maintenance.</a:t>
            </a:r>
          </a:p>
        </p:txBody>
      </p:sp>
      <p:sp>
        <p:nvSpPr>
          <p:cNvPr id="24" name="TextBox 23"/>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Key Learning Outcomes</a:t>
            </a:r>
          </a:p>
        </p:txBody>
      </p:sp>
      <p:sp>
        <p:nvSpPr>
          <p:cNvPr id="5" name="TextBox 4"/>
          <p:cNvSpPr txBox="1"/>
          <p:nvPr/>
        </p:nvSpPr>
        <p:spPr>
          <a:xfrm>
            <a:off x="822960" y="1417320"/>
            <a:ext cx="10515600" cy="4480560"/>
          </a:xfrm>
          <a:prstGeom prst="rect">
            <a:avLst/>
          </a:prstGeom>
          <a:noFill/>
        </p:spPr>
        <p:txBody>
          <a:bodyPr wrap="square">
            <a:spAutoFit/>
          </a:bodyPr>
          <a:lstStyle/>
          <a:p>
            <a:pPr>
              <a:spcAft>
                <a:spcPts val="1200"/>
              </a:spcAft>
              <a:defRPr sz="1700">
                <a:solidFill>
                  <a:srgbClr val="232323"/>
                </a:solidFill>
                <a:latin typeface="Aptos"/>
              </a:defRPr>
            </a:pPr>
            <a:r>
              <a:t>• Built a structured understanding of AI, ML, and Deep Learning.</a:t>
            </a:r>
          </a:p>
          <a:p>
            <a:pPr>
              <a:spcAft>
                <a:spcPts val="1200"/>
              </a:spcAft>
              <a:defRPr sz="1700">
                <a:solidFill>
                  <a:srgbClr val="232323"/>
                </a:solidFill>
                <a:latin typeface="Aptos"/>
              </a:defRPr>
            </a:pPr>
            <a:r>
              <a:t>• Understood major machine learning paradigms and their use cases.</a:t>
            </a:r>
          </a:p>
          <a:p>
            <a:pPr>
              <a:spcAft>
                <a:spcPts val="1200"/>
              </a:spcAft>
              <a:defRPr sz="1700">
                <a:solidFill>
                  <a:srgbClr val="232323"/>
                </a:solidFill>
                <a:latin typeface="Aptos"/>
              </a:defRPr>
            </a:pPr>
            <a:r>
              <a:t>• Learned how data quality and variety influence model performance.</a:t>
            </a:r>
          </a:p>
          <a:p>
            <a:pPr>
              <a:spcAft>
                <a:spcPts val="1200"/>
              </a:spcAft>
              <a:defRPr sz="1700">
                <a:solidFill>
                  <a:srgbClr val="232323"/>
                </a:solidFill>
                <a:latin typeface="Aptos"/>
              </a:defRPr>
            </a:pPr>
            <a:r>
              <a:t>• Gained practical awareness of training, testing, prediction, and iteration.</a:t>
            </a:r>
          </a:p>
          <a:p>
            <a:pPr>
              <a:spcAft>
                <a:spcPts val="1200"/>
              </a:spcAft>
              <a:defRPr sz="1700">
                <a:solidFill>
                  <a:srgbClr val="232323"/>
                </a:solidFill>
                <a:latin typeface="Aptos"/>
              </a:defRPr>
            </a:pPr>
            <a:r>
              <a:t>• Learned to convert real-world problems into realistic AI/ML solution ideas.</a:t>
            </a:r>
          </a:p>
          <a:p>
            <a:pPr>
              <a:spcAft>
                <a:spcPts val="1200"/>
              </a:spcAft>
              <a:defRPr sz="1700">
                <a:solidFill>
                  <a:srgbClr val="232323"/>
                </a:solidFill>
                <a:latin typeface="Aptos"/>
              </a:defRPr>
            </a:pPr>
            <a:r>
              <a:t>• Developed awareness of responsible AI considerations such as bias, privacy, and human oversight.</a:t>
            </a:r>
          </a:p>
        </p:txBody>
      </p:sp>
      <p:sp>
        <p:nvSpPr>
          <p:cNvPr id="6" name="TextBox 5"/>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Challenges &amp; Future Scope</a:t>
            </a:r>
          </a:p>
        </p:txBody>
      </p:sp>
      <p:sp>
        <p:nvSpPr>
          <p:cNvPr id="5" name="Rounded Rectangle 4"/>
          <p:cNvSpPr/>
          <p:nvPr/>
        </p:nvSpPr>
        <p:spPr>
          <a:xfrm>
            <a:off x="685800" y="1417320"/>
            <a:ext cx="5257800" cy="42519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581912"/>
            <a:ext cx="4855464" cy="411480"/>
          </a:xfrm>
          <a:prstGeom prst="rect">
            <a:avLst/>
          </a:prstGeom>
          <a:noFill/>
        </p:spPr>
        <p:txBody>
          <a:bodyPr wrap="none">
            <a:spAutoFit/>
          </a:bodyPr>
          <a:lstStyle/>
          <a:p>
            <a:pPr>
              <a:defRPr sz="1600" b="1">
                <a:solidFill>
                  <a:srgbClr val="17365D"/>
                </a:solidFill>
                <a:latin typeface="Aptos Display"/>
              </a:defRPr>
            </a:pPr>
            <a:r>
              <a:t>Important Considerations</a:t>
            </a:r>
          </a:p>
        </p:txBody>
      </p:sp>
      <p:sp>
        <p:nvSpPr>
          <p:cNvPr id="7" name="TextBox 6"/>
          <p:cNvSpPr txBox="1"/>
          <p:nvPr/>
        </p:nvSpPr>
        <p:spPr>
          <a:xfrm>
            <a:off x="886968" y="2075688"/>
            <a:ext cx="4855464" cy="3429000"/>
          </a:xfrm>
          <a:prstGeom prst="rect">
            <a:avLst/>
          </a:prstGeom>
          <a:noFill/>
        </p:spPr>
        <p:txBody>
          <a:bodyPr wrap="none">
            <a:spAutoFit/>
          </a:bodyPr>
          <a:lstStyle/>
          <a:p>
            <a:pPr>
              <a:spcAft>
                <a:spcPts val="400"/>
              </a:spcAft>
              <a:defRPr sz="1250">
                <a:solidFill>
                  <a:srgbClr val="232323"/>
                </a:solidFill>
                <a:latin typeface="Aptos"/>
              </a:defRPr>
            </a:pPr>
            <a:r>
              <a:t>• Data quality and labeling</a:t>
            </a:r>
            <a:br/>
            <a:r>
              <a:t>• Bias and fairness</a:t>
            </a:r>
            <a:br/>
            <a:r>
              <a:t>• Generalization to unseen data</a:t>
            </a:r>
            <a:br/>
            <a:r>
              <a:t>• Privacy and security</a:t>
            </a:r>
            <a:br/>
            <a:r>
              <a:t>• Model interpretability</a:t>
            </a:r>
            <a:br/>
            <a:r>
              <a:t>• Human oversight in high-impact decisions</a:t>
            </a:r>
          </a:p>
        </p:txBody>
      </p:sp>
      <p:sp>
        <p:nvSpPr>
          <p:cNvPr id="8" name="Rounded Rectangle 7"/>
          <p:cNvSpPr/>
          <p:nvPr/>
        </p:nvSpPr>
        <p:spPr>
          <a:xfrm>
            <a:off x="6217920" y="1417320"/>
            <a:ext cx="5257800" cy="4251960"/>
          </a:xfrm>
          <a:prstGeom prst="roundRect">
            <a:avLst/>
          </a:prstGeom>
          <a:solidFill>
            <a:srgbClr val="F0F4FA"/>
          </a:solidFill>
          <a:ln>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581912"/>
            <a:ext cx="4855464" cy="411480"/>
          </a:xfrm>
          <a:prstGeom prst="rect">
            <a:avLst/>
          </a:prstGeom>
          <a:noFill/>
        </p:spPr>
        <p:txBody>
          <a:bodyPr wrap="none">
            <a:spAutoFit/>
          </a:bodyPr>
          <a:lstStyle/>
          <a:p>
            <a:pPr>
              <a:defRPr sz="1600" b="1">
                <a:solidFill>
                  <a:srgbClr val="17365D"/>
                </a:solidFill>
                <a:latin typeface="Aptos Display"/>
              </a:defRPr>
            </a:pPr>
            <a:r>
              <a:t>Future Development</a:t>
            </a:r>
          </a:p>
        </p:txBody>
      </p:sp>
      <p:sp>
        <p:nvSpPr>
          <p:cNvPr id="10" name="TextBox 9"/>
          <p:cNvSpPr txBox="1"/>
          <p:nvPr/>
        </p:nvSpPr>
        <p:spPr>
          <a:xfrm>
            <a:off x="6419088" y="2075688"/>
            <a:ext cx="4855464" cy="3429000"/>
          </a:xfrm>
          <a:prstGeom prst="rect">
            <a:avLst/>
          </a:prstGeom>
          <a:noFill/>
        </p:spPr>
        <p:txBody>
          <a:bodyPr wrap="none">
            <a:spAutoFit/>
          </a:bodyPr>
          <a:lstStyle/>
          <a:p>
            <a:pPr>
              <a:spcAft>
                <a:spcPts val="400"/>
              </a:spcAft>
              <a:defRPr sz="1250">
                <a:solidFill>
                  <a:srgbClr val="232323"/>
                </a:solidFill>
                <a:latin typeface="Aptos"/>
              </a:defRPr>
            </a:pPr>
            <a:r>
              <a:t>• Build projects with Python and ML libraries</a:t>
            </a:r>
            <a:br/>
            <a:r>
              <a:t>• Compare multiple algorithms</a:t>
            </a:r>
            <a:br/>
            <a:r>
              <a:t>• Use formal evaluation metrics</a:t>
            </a:r>
            <a:br/>
            <a:r>
              <a:t>• Create web/mobile model interfaces</a:t>
            </a:r>
            <a:br/>
            <a:r>
              <a:t>• Explore neural networks and deep learning</a:t>
            </a:r>
            <a:br/>
            <a:r>
              <a:t>• Deploy and monitor models in real settings</a:t>
            </a:r>
          </a:p>
        </p:txBody>
      </p:sp>
      <p:sp>
        <p:nvSpPr>
          <p:cNvPr id="11" name="TextBox 10"/>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14400"/>
            <a:ext cx="10515600" cy="731520"/>
          </a:xfrm>
          <a:prstGeom prst="rect">
            <a:avLst/>
          </a:prstGeom>
          <a:noFill/>
        </p:spPr>
        <p:txBody>
          <a:bodyPr wrap="none">
            <a:spAutoFit/>
          </a:bodyPr>
          <a:lstStyle/>
          <a:p>
            <a:pPr>
              <a:defRPr sz="3200" b="1">
                <a:solidFill>
                  <a:srgbClr val="FFFFFF"/>
                </a:solidFill>
                <a:latin typeface="Aptos Display"/>
              </a:defRPr>
            </a:pPr>
            <a:r>
              <a:t>Conclusion</a:t>
            </a:r>
          </a:p>
        </p:txBody>
      </p:sp>
      <p:sp>
        <p:nvSpPr>
          <p:cNvPr id="4" name="TextBox 3"/>
          <p:cNvSpPr txBox="1"/>
          <p:nvPr/>
        </p:nvSpPr>
        <p:spPr>
          <a:xfrm>
            <a:off x="868680" y="1828800"/>
            <a:ext cx="10058400" cy="2743200"/>
          </a:xfrm>
          <a:prstGeom prst="rect">
            <a:avLst/>
          </a:prstGeom>
          <a:noFill/>
        </p:spPr>
        <p:txBody>
          <a:bodyPr wrap="none">
            <a:spAutoFit/>
          </a:bodyPr>
          <a:lstStyle/>
          <a:p>
            <a:pPr>
              <a:spcAft>
                <a:spcPts val="1000"/>
              </a:spcAft>
              <a:defRPr sz="2000">
                <a:solidFill>
                  <a:srgbClr val="FFFFFF"/>
                </a:solidFill>
                <a:latin typeface="Aptos"/>
              </a:defRPr>
            </a:pPr>
            <a:r>
              <a:t>The internship provided a practical foundation for understanding how AI and Machine Learning can address real-world challenges. The experience connected fundamental concepts with model training, testing, and application design, while emphasizing that successful ML solutions depend on suitable data, careful evaluation, responsible use, and continuous improvement.</a:t>
            </a:r>
          </a:p>
        </p:txBody>
      </p:sp>
      <p:sp>
        <p:nvSpPr>
          <p:cNvPr id="5" name="TextBox 4"/>
          <p:cNvSpPr txBox="1"/>
          <p:nvPr/>
        </p:nvSpPr>
        <p:spPr>
          <a:xfrm>
            <a:off x="868680" y="5074920"/>
            <a:ext cx="10058400" cy="640080"/>
          </a:xfrm>
          <a:prstGeom prst="rect">
            <a:avLst/>
          </a:prstGeom>
          <a:noFill/>
        </p:spPr>
        <p:txBody>
          <a:bodyPr wrap="none">
            <a:spAutoFit/>
          </a:bodyPr>
          <a:lstStyle/>
          <a:p>
            <a:pPr>
              <a:defRPr sz="2400" b="1">
                <a:solidFill>
                  <a:srgbClr val="BED7F5"/>
                </a:solidFill>
                <a:latin typeface="Aptos Display"/>
              </a:defRPr>
            </a:pPr>
            <a:r>
              <a:t>Thank You</a:t>
            </a:r>
          </a:p>
        </p:txBody>
      </p:sp>
      <p:sp>
        <p:nvSpPr>
          <p:cNvPr id="6" name="TextBox 5"/>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411480"/>
            <a:ext cx="10972800" cy="594360"/>
          </a:xfrm>
          <a:prstGeom prst="rect">
            <a:avLst/>
          </a:prstGeom>
          <a:noFill/>
        </p:spPr>
        <p:txBody>
          <a:bodyPr wrap="none">
            <a:spAutoFit/>
          </a:bodyPr>
          <a:lstStyle/>
          <a:p>
            <a:pPr>
              <a:defRPr sz="2800" b="1">
                <a:solidFill>
                  <a:srgbClr val="17365D"/>
                </a:solidFill>
                <a:latin typeface="Aptos Display"/>
              </a:defRPr>
            </a:pPr>
            <a:r>
              <a:t>Internship Certification</a:t>
            </a:r>
          </a:p>
        </p:txBody>
      </p:sp>
      <p:sp>
        <p:nvSpPr>
          <p:cNvPr id="5" name="TextBox 4"/>
          <p:cNvSpPr txBox="1"/>
          <p:nvPr/>
        </p:nvSpPr>
        <p:spPr>
          <a:xfrm>
            <a:off x="621792" y="987552"/>
            <a:ext cx="10789920" cy="365760"/>
          </a:xfrm>
          <a:prstGeom prst="rect">
            <a:avLst/>
          </a:prstGeom>
          <a:noFill/>
        </p:spPr>
        <p:txBody>
          <a:bodyPr wrap="none">
            <a:spAutoFit/>
          </a:bodyPr>
          <a:lstStyle/>
          <a:p>
            <a:pPr>
              <a:defRPr sz="1100">
                <a:solidFill>
                  <a:srgbClr val="646464"/>
                </a:solidFill>
                <a:latin typeface="Aptos"/>
              </a:defRPr>
            </a:pPr>
            <a:r>
              <a:t>Certificate issued by InAmigos Foundation</a:t>
            </a:r>
          </a:p>
        </p:txBody>
      </p:sp>
      <p:pic>
        <p:nvPicPr>
          <p:cNvPr id="6" name="Picture 5" descr="163579.jpg"/>
          <p:cNvPicPr>
            <a:picLocks noChangeAspect="1"/>
          </p:cNvPicPr>
          <p:nvPr/>
        </p:nvPicPr>
        <p:blipFill>
          <a:blip r:embed="rId2"/>
          <a:stretch>
            <a:fillRect/>
          </a:stretch>
        </p:blipFill>
        <p:spPr>
          <a:xfrm>
            <a:off x="1874519" y="1325880"/>
            <a:ext cx="8458200" cy="5974705"/>
          </a:xfrm>
          <a:prstGeom prst="rect">
            <a:avLst/>
          </a:prstGeom>
        </p:spPr>
      </p:pic>
      <p:sp>
        <p:nvSpPr>
          <p:cNvPr id="7" name="TextBox 6"/>
          <p:cNvSpPr txBox="1"/>
          <p:nvPr/>
        </p:nvSpPr>
        <p:spPr>
          <a:xfrm>
            <a:off x="594360" y="6473952"/>
            <a:ext cx="10972800" cy="228600"/>
          </a:xfrm>
          <a:prstGeom prst="rect">
            <a:avLst/>
          </a:prstGeom>
          <a:noFill/>
        </p:spPr>
        <p:txBody>
          <a:bodyPr wrap="none">
            <a:spAutoFit/>
          </a:bodyPr>
          <a:lstStyle/>
          <a:p>
            <a:pPr>
              <a:defRPr sz="800">
                <a:solidFill>
                  <a:srgbClr val="646464"/>
                </a:solidFill>
                <a:latin typeface="Aptos"/>
              </a:defRPr>
            </a:pPr>
            <a:r>
              <a:t>Machine Learning Internship • Ayush Kashyap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